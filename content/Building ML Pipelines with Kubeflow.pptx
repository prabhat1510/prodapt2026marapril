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129" autoAdjust="0"/>
  </p:normalViewPr>
  <p:slideViewPr>
    <p:cSldViewPr snapToGrid="0">
      <p:cViewPr varScale="1">
        <p:scale>
          <a:sx n="66" d="100"/>
          <a:sy n="66" d="100"/>
        </p:scale>
        <p:origin x="13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43BA7-B9DF-450A-9BE6-3E6B1ABE54E0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FA8A5E-EC74-4A61-8285-29906D5F8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090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FA8A5E-EC74-4A61-8285-29906D5F813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968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Created a local Kubernetes cluster with Kind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Installed Kubeflow Pipelines via Helm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Built and deployed a working ML pipeline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Monitored and analyzed pipeline results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Kubeflow Pipelines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bring structure and scalability to your ML projects — making them: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Reproducible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same results every run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Scalable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handle any data size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Collaborative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work with your whole team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track models across their lifecycle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your first step into the world of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MLOps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Kubernetes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skills you’ve learned here can scale to real-world production systems.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FA8A5E-EC74-4A61-8285-29906D5F8139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473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1AA9-947D-561F-C1BF-C0B4600D6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A0220-D080-2968-5407-8906DCD0F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5A72A-C32B-A735-EF6A-6ED7430E0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48C5-D269-4BC5-BCBD-FA51EE6D8A7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023F2-D674-69D0-E54C-DBA876E5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08CC4-797C-80F9-D86E-3B3FBCCB6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3568-6963-4353-92E6-85984598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112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8CBE-CCBE-399F-5F1E-6B87CC11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04034-9198-1A6B-DABF-671E2A3BA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CC0A0-90DB-D7D6-DAEF-D36D71E07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48C5-D269-4BC5-BCBD-FA51EE6D8A7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0452D-CEC6-4720-CE42-41739BC9E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DF5B2-6DA9-F8F9-E9B2-4268AA388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3568-6963-4353-92E6-85984598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461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AE405-C6AB-76A6-56D0-0488E77F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31E6A-781F-CBBF-7AC4-1024BED38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DC290-5B3F-0FEC-FE82-4E81BD88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48C5-D269-4BC5-BCBD-FA51EE6D8A7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12A28-5C62-CCC7-4C5C-3152C09F5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9FE9F-08B5-32BB-AFEF-E88DC835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3568-6963-4353-92E6-85984598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109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862B-B3D8-97AF-0FDB-DF89ABA75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48D25-4EAF-1A9C-06D4-8B99C4578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FDCA7-454B-79E3-D4DA-09589E05F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5429E-F43D-76C6-9371-80E526A8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48C5-D269-4BC5-BCBD-FA51EE6D8A7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A6875-B9BC-8ECB-3E49-30F055CFA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E1E51-E4EB-EBC9-079D-3923984F6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3568-6963-4353-92E6-85984598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9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BB334-C0EF-218F-F472-8EE3BB0D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B769F-04F5-5A82-51ED-A1CABEBAC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BBDBC-0801-C884-65DC-F05D594D2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8EE40A-533A-8BA0-8D5E-3AD961D85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4654C7-E735-9B5D-5CDC-DF4AF8F29B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8AC1CC-10A2-A32B-05A2-3093112F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48C5-D269-4BC5-BCBD-FA51EE6D8A7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63D23E-4B4F-3E9C-86D1-0BAE29160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5B8D37-B3AB-8E26-F6B5-38B219A55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3568-6963-4353-92E6-85984598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16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28FB-4C96-4E69-35B5-94D6AAD49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9D616-7FA6-21CA-4CDE-0224C77D2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48C5-D269-4BC5-BCBD-FA51EE6D8A7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CF692-7C80-7440-614A-278FF5666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2F577-DF0B-8600-2164-162E1285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3568-6963-4353-92E6-85984598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5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730038-A0F8-BB0B-7058-7C630241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48C5-D269-4BC5-BCBD-FA51EE6D8A7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A9A46-E633-330C-6539-BC75038C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C2D54-124E-22A5-D361-53BEC282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3568-6963-4353-92E6-85984598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40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DF2F-DA5F-D7B9-3EF6-6565ED1FF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B6720-5A1E-003F-EF00-150FDC271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A84A4-CDA6-8FC1-2C06-11F68B9A0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282D9-E18F-2889-3845-400956E27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48C5-D269-4BC5-BCBD-FA51EE6D8A7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DC84E-0A33-0F97-7749-8AF9C474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70457-8E84-8716-DAA5-C218F19FA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3568-6963-4353-92E6-85984598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66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BFB56-BEF5-3A29-99E6-BC68D193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08166-9F8C-EA90-3C0B-E4C631874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95530-E6D2-515B-8CD0-6AA9D6B89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764F3-175E-050C-C578-C704D6D8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48C5-D269-4BC5-BCBD-FA51EE6D8A7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66B28-E240-EFCA-8F2B-21CBB9647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49C76-107C-95B8-FBD3-44D1CDECA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3568-6963-4353-92E6-85984598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600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CA610-5799-4C4B-4D66-7AFE5B69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0F3BC-CF4F-BA37-96D3-6DCA8D86E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DA766-E578-2ED5-2300-767ECE6D1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48C5-D269-4BC5-BCBD-FA51EE6D8A7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040DC-8236-59B2-10F4-22BFA71E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E30B3-1813-8188-FCDD-3D430E125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3568-6963-4353-92E6-85984598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987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FFA487-D4FE-1951-01B9-4D64BEFD7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6C08B-AF70-6C60-DFDE-BFCFA3983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9835A-7D68-2B86-1F33-5F5C16BC7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48C5-D269-4BC5-BCBD-FA51EE6D8A7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55229-4681-972F-5439-0D6F37710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85371-3483-5001-6227-39638639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3568-6963-4353-92E6-85984598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39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3BEA55-F360-B68B-ABE1-3F62599AF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68240-13B4-CBF0-6377-2220F2B16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0C6C2-0954-E13F-DECC-0CF5F9026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848C5-D269-4BC5-BCBD-FA51EE6D8A7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D63EC-58F5-D534-F82F-6E3FD3DA8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1513F-A0B2-B6BD-788D-97F40149A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33568-6963-4353-92E6-85984598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140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kind.sigs.k8s.io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14E6-880A-BCF9-E24E-9EFCE1CB11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Building ML Pipelines with Kubeflow: A Complete Guide for </a:t>
            </a:r>
            <a:r>
              <a:rPr lang="en-US" b="1" dirty="0" err="1"/>
              <a:t>MlOps</a:t>
            </a:r>
            <a:br>
              <a:rPr lang="en-US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7667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1DA36-EF0B-5517-1D47-5396220F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Kubeflow?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B8777-7586-8AF2-2817-E425CFC5D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Machine Learning in production is </a:t>
            </a:r>
            <a:r>
              <a:rPr lang="en-US" b="1" dirty="0"/>
              <a:t>hard</a:t>
            </a:r>
            <a:r>
              <a:rPr lang="en-US" dirty="0"/>
              <a:t>. While building models in </a:t>
            </a:r>
            <a:r>
              <a:rPr lang="en-US" b="1" dirty="0" err="1"/>
              <a:t>Jupyter</a:t>
            </a:r>
            <a:r>
              <a:rPr lang="en-US" b="1" dirty="0"/>
              <a:t> notebooks</a:t>
            </a:r>
            <a:r>
              <a:rPr lang="en-US" dirty="0"/>
              <a:t> feels easy, scaling and operationalizing them brings new challenges:</a:t>
            </a:r>
          </a:p>
          <a:p>
            <a:r>
              <a:rPr lang="en-US" b="1" dirty="0"/>
              <a:t>Reproducibility</a:t>
            </a:r>
            <a:r>
              <a:rPr lang="en-US" dirty="0"/>
              <a:t> — Can you guarantee the same results every time?</a:t>
            </a:r>
          </a:p>
          <a:p>
            <a:r>
              <a:rPr lang="en-US" b="1" dirty="0"/>
              <a:t>Scalability</a:t>
            </a:r>
            <a:r>
              <a:rPr lang="en-US" dirty="0"/>
              <a:t> — Can your workflow handle large datasets and multiple experiments?</a:t>
            </a:r>
          </a:p>
          <a:p>
            <a:r>
              <a:rPr lang="en-US" b="1" dirty="0"/>
              <a:t>Collaboration</a:t>
            </a:r>
            <a:r>
              <a:rPr lang="en-US" dirty="0"/>
              <a:t> — How can teams easily share and track ML experiments?</a:t>
            </a:r>
          </a:p>
          <a:p>
            <a:r>
              <a:rPr lang="en-US" b="1" dirty="0"/>
              <a:t>Monitoring</a:t>
            </a:r>
            <a:r>
              <a:rPr lang="en-US" dirty="0"/>
              <a:t> — How do you keep an eye on model performance post-deployment?</a:t>
            </a:r>
          </a:p>
          <a:p>
            <a:r>
              <a:rPr lang="en-US" b="1" dirty="0"/>
              <a:t>Versioning</a:t>
            </a:r>
            <a:r>
              <a:rPr lang="en-US" dirty="0"/>
              <a:t> — How do you manage different model and data versions</a:t>
            </a:r>
          </a:p>
          <a:p>
            <a:pPr marL="0" indent="0">
              <a:buNone/>
            </a:pPr>
            <a:r>
              <a:rPr lang="en-US" dirty="0"/>
              <a:t>That’s where </a:t>
            </a:r>
            <a:r>
              <a:rPr lang="en-US" b="1" dirty="0"/>
              <a:t>Kubeflow</a:t>
            </a:r>
            <a:r>
              <a:rPr lang="en-US" dirty="0"/>
              <a:t> comes in.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346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2D46-8912-3942-C318-3A1B8004B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E0171-80F3-A4F3-33EA-C1DE7B1AE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Kubeflow is an </a:t>
            </a:r>
            <a:r>
              <a:rPr lang="en-US" b="1" dirty="0"/>
              <a:t>end-to-end </a:t>
            </a:r>
            <a:r>
              <a:rPr lang="en-US" b="1" dirty="0" err="1"/>
              <a:t>MLOps</a:t>
            </a:r>
            <a:r>
              <a:rPr lang="en-US" b="1" dirty="0"/>
              <a:t> platform built on Kubernetes</a:t>
            </a:r>
            <a:r>
              <a:rPr lang="en-US" dirty="0"/>
              <a:t>, designed to handle the entire ML lifecycle — from experimentation to deployment and monitoring — all in one place.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7BA76-979D-C51F-29C2-AC72D0405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840" y="3062028"/>
            <a:ext cx="5090943" cy="365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3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3ABC-01B1-D4E1-9E11-DE4872C82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What Problems Does Kubeflow Solve?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AFEF6-0D28-5CBB-3441-7005AA221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1. Experiment Tracking &amp; Reproducibility</a:t>
            </a:r>
          </a:p>
          <a:p>
            <a:r>
              <a:rPr lang="en-US" dirty="0"/>
              <a:t>Every experiment is automatically tracked with datasets, code, and parameters.</a:t>
            </a:r>
          </a:p>
          <a:p>
            <a:r>
              <a:rPr lang="en-US" dirty="0"/>
              <a:t>You can reproduce past results exactly.</a:t>
            </a:r>
          </a:p>
          <a:p>
            <a:r>
              <a:rPr lang="en-US" dirty="0"/>
              <a:t>Compare multiple model versions side by side.</a:t>
            </a:r>
          </a:p>
          <a:p>
            <a:pPr marL="0" indent="0">
              <a:buNone/>
            </a:pPr>
            <a:r>
              <a:rPr lang="en-US" b="1" dirty="0"/>
              <a:t>2. Scalable Training</a:t>
            </a:r>
          </a:p>
          <a:p>
            <a:r>
              <a:rPr lang="en-US" dirty="0"/>
              <a:t>Run distributed training jobs across multiple nodes.</a:t>
            </a:r>
          </a:p>
          <a:p>
            <a:r>
              <a:rPr lang="en-US" dirty="0"/>
              <a:t>Handle massive datasets with flexible compute (CPU, GPU, TPU).</a:t>
            </a:r>
          </a:p>
          <a:p>
            <a:r>
              <a:rPr lang="en-US" dirty="0"/>
              <a:t>Scale up or down dynamically based on workloads.</a:t>
            </a:r>
          </a:p>
          <a:p>
            <a:pPr marL="0" indent="0">
              <a:buNone/>
            </a:pPr>
            <a:r>
              <a:rPr lang="en-US" b="1" dirty="0"/>
              <a:t>3. Model Deployment</a:t>
            </a:r>
          </a:p>
          <a:p>
            <a:r>
              <a:rPr lang="en-US" dirty="0"/>
              <a:t>Serve models as microservices.</a:t>
            </a:r>
          </a:p>
          <a:p>
            <a:r>
              <a:rPr lang="en-US" dirty="0"/>
              <a:t>Perform canary or A/B testing.</a:t>
            </a:r>
          </a:p>
          <a:p>
            <a:r>
              <a:rPr lang="en-US" dirty="0"/>
              <a:t>Auto-scale based on demand.</a:t>
            </a:r>
          </a:p>
          <a:p>
            <a:pPr marL="0" indent="0">
              <a:buNone/>
            </a:pPr>
            <a:r>
              <a:rPr lang="en-US" b="1" dirty="0"/>
              <a:t>4. Pipeline Orchestration</a:t>
            </a:r>
          </a:p>
          <a:p>
            <a:r>
              <a:rPr lang="en-US" dirty="0"/>
              <a:t>Chain ML steps together (data prep → training → evaluation → deployment).</a:t>
            </a:r>
          </a:p>
          <a:p>
            <a:r>
              <a:rPr lang="en-US" dirty="0"/>
              <a:t>Handle dependencies automatically.</a:t>
            </a:r>
          </a:p>
          <a:p>
            <a:r>
              <a:rPr lang="en-US" dirty="0"/>
              <a:t>Retry failed steps for resilient execution.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457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7E65-C3B4-32B2-E071-D5BDFCFB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Kubeflow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48F38-CB93-E630-F20D-CA69569E7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Kubeflow is modular. Each component focuses on a specific stage of the ML lifecycle:</a:t>
            </a:r>
          </a:p>
          <a:p>
            <a:r>
              <a:rPr lang="en-IN" dirty="0"/>
              <a:t>Component Purpose </a:t>
            </a:r>
            <a:r>
              <a:rPr lang="en-IN" b="1" dirty="0"/>
              <a:t>Kubeflow Pipelines</a:t>
            </a:r>
            <a:r>
              <a:rPr lang="en-IN" dirty="0"/>
              <a:t> Workflow orchestration, experiment tracking </a:t>
            </a:r>
            <a:r>
              <a:rPr lang="en-IN" b="1" dirty="0" err="1"/>
              <a:t>Jupyter</a:t>
            </a:r>
            <a:r>
              <a:rPr lang="en-IN" b="1" dirty="0"/>
              <a:t> Notebooks</a:t>
            </a:r>
            <a:r>
              <a:rPr lang="en-IN" dirty="0"/>
              <a:t> Interactive development </a:t>
            </a:r>
            <a:r>
              <a:rPr lang="en-IN" b="1" dirty="0"/>
              <a:t>Katib</a:t>
            </a:r>
            <a:r>
              <a:rPr lang="en-IN" dirty="0"/>
              <a:t> Hyperparameter tuning </a:t>
            </a:r>
            <a:r>
              <a:rPr lang="en-IN" b="1" dirty="0" err="1"/>
              <a:t>KFServing</a:t>
            </a:r>
            <a:r>
              <a:rPr lang="en-IN" dirty="0"/>
              <a:t> Model serving and inference </a:t>
            </a:r>
            <a:r>
              <a:rPr lang="en-IN" b="1" dirty="0"/>
              <a:t>Kubeflow Training</a:t>
            </a:r>
            <a:r>
              <a:rPr lang="en-IN" dirty="0"/>
              <a:t> Distributed training operators </a:t>
            </a:r>
            <a:r>
              <a:rPr lang="en-IN" b="1" dirty="0"/>
              <a:t>Kubeflow Metadata</a:t>
            </a:r>
            <a:r>
              <a:rPr lang="en-IN" dirty="0"/>
              <a:t> Artifact and lineage tracking</a:t>
            </a:r>
          </a:p>
          <a:p>
            <a:pPr marL="0" indent="0">
              <a:buNone/>
            </a:pPr>
            <a:r>
              <a:rPr lang="en-IN" dirty="0"/>
              <a:t>Here, we’ll focus on </a:t>
            </a:r>
            <a:r>
              <a:rPr lang="en-IN" b="1" dirty="0"/>
              <a:t>Kubeflow Pipelines</a:t>
            </a:r>
            <a:r>
              <a:rPr lang="en-IN" dirty="0"/>
              <a:t>, the orchestration engine that allows you to:</a:t>
            </a:r>
          </a:p>
          <a:p>
            <a:r>
              <a:rPr lang="en-IN" dirty="0"/>
              <a:t>Define workflows as Python code</a:t>
            </a:r>
          </a:p>
          <a:p>
            <a:r>
              <a:rPr lang="en-IN" dirty="0"/>
              <a:t>Run reproducible experiments</a:t>
            </a:r>
          </a:p>
          <a:p>
            <a:r>
              <a:rPr lang="en-IN" dirty="0"/>
              <a:t>Track metrics, logs, and artifacts</a:t>
            </a:r>
          </a:p>
          <a:p>
            <a:r>
              <a:rPr lang="en-IN" dirty="0"/>
              <a:t>Collaborate efficiently across teams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1454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E9F29-B1BF-FC48-F8A3-3147DAB1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Prerequisites (Local Setup)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06A6A-DE41-BED3-8237-3BC520756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Before getting started, make sure you have:</a:t>
            </a:r>
          </a:p>
          <a:p>
            <a:r>
              <a:rPr lang="en-US" b="1" dirty="0"/>
              <a:t>Docker Desktop</a:t>
            </a:r>
            <a:r>
              <a:rPr lang="en-US" dirty="0"/>
              <a:t> installed and running</a:t>
            </a:r>
          </a:p>
          <a:p>
            <a:r>
              <a:rPr lang="en-US" b="1" dirty="0"/>
              <a:t>macOS or Linux</a:t>
            </a:r>
            <a:r>
              <a:rPr lang="en-US" dirty="0"/>
              <a:t> terminal</a:t>
            </a:r>
          </a:p>
          <a:p>
            <a:r>
              <a:rPr lang="en-US" b="1" dirty="0"/>
              <a:t>8GB+ RAM</a:t>
            </a:r>
            <a:r>
              <a:rPr lang="en-US" dirty="0"/>
              <a:t> (recommended)</a:t>
            </a:r>
          </a:p>
          <a:p>
            <a:r>
              <a:rPr lang="en-US" dirty="0"/>
              <a:t>Basic knowledge of </a:t>
            </a:r>
            <a:r>
              <a:rPr lang="en-US" b="1" dirty="0"/>
              <a:t>Python</a:t>
            </a:r>
            <a:r>
              <a:rPr lang="en-US" dirty="0"/>
              <a:t> and </a:t>
            </a:r>
            <a:r>
              <a:rPr lang="en-US" b="1" dirty="0"/>
              <a:t>Kubernetes</a:t>
            </a:r>
            <a:endParaRPr lang="en-US" dirty="0"/>
          </a:p>
          <a:p>
            <a:r>
              <a:rPr lang="en-US" dirty="0"/>
              <a:t>While in GCP we can provision GPU Backed Nodes with L4/T4 GPUs to support </a:t>
            </a:r>
            <a:r>
              <a:rPr lang="en-US" dirty="0" err="1"/>
              <a:t>kubeflow</a:t>
            </a:r>
            <a:r>
              <a:rPr lang="en-US" dirty="0"/>
              <a:t> deployment.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14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E455-5AF0-E847-2C76-125748AF1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6D735-B820-7F63-CAFA-392278251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Step 1: Install Kind (Kubernetes in Docker)</a:t>
            </a:r>
          </a:p>
          <a:p>
            <a:pPr marL="0" indent="0">
              <a:buNone/>
            </a:pPr>
            <a:r>
              <a:rPr lang="en-US" u="sng" dirty="0">
                <a:hlinkClick r:id="rId2"/>
              </a:rPr>
              <a:t>Kind</a:t>
            </a:r>
            <a:r>
              <a:rPr lang="en-US" dirty="0"/>
              <a:t> lets you run Kubernetes clusters locally using Docker — perfect for testing and development.</a:t>
            </a:r>
          </a:p>
          <a:p>
            <a:pPr marL="0" indent="0">
              <a:buNone/>
            </a:pPr>
            <a:r>
              <a:rPr lang="en-US" dirty="0"/>
              <a:t>brew install kind</a:t>
            </a:r>
            <a:br>
              <a:rPr lang="en-US" dirty="0"/>
            </a:br>
            <a:r>
              <a:rPr lang="en-US" dirty="0" err="1"/>
              <a:t>kind</a:t>
            </a:r>
            <a:r>
              <a:rPr lang="en-US" dirty="0"/>
              <a:t> version</a:t>
            </a:r>
          </a:p>
          <a:p>
            <a:pPr marL="0" indent="0">
              <a:buNone/>
            </a:pPr>
            <a:r>
              <a:rPr lang="en-US" b="1" dirty="0"/>
              <a:t>Step 2: Create a Local Kubernetes Cluster</a:t>
            </a:r>
          </a:p>
          <a:p>
            <a:pPr marL="0" indent="0">
              <a:buNone/>
            </a:pPr>
            <a:r>
              <a:rPr lang="en-US" dirty="0"/>
              <a:t>kind create cluster --name kind-cluster</a:t>
            </a:r>
            <a:br>
              <a:rPr lang="en-US" dirty="0"/>
            </a:br>
            <a:r>
              <a:rPr lang="en-US" dirty="0" err="1"/>
              <a:t>kubectl</a:t>
            </a:r>
            <a:r>
              <a:rPr lang="en-US" dirty="0"/>
              <a:t> cluster-info --context kind-kind-cluster</a:t>
            </a:r>
          </a:p>
          <a:p>
            <a:pPr marL="0" indent="0">
              <a:buNone/>
            </a:pPr>
            <a:r>
              <a:rPr lang="en-US" dirty="0"/>
              <a:t>You should now have a single-node Kubernetes cluster running locally.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11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418E8-D5CB-2928-6CF8-D6D58F0BF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AA328-93F1-A7A6-50A9-6E49465D0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Step 3: Install Helm (Kubernetes Package Manager)</a:t>
            </a:r>
          </a:p>
          <a:p>
            <a:r>
              <a:rPr lang="en-IN" dirty="0"/>
              <a:t>Helm simplifies Kubernetes app deployments using prebuilt charts.</a:t>
            </a:r>
          </a:p>
          <a:p>
            <a:pPr marL="0" indent="0">
              <a:buNone/>
            </a:pPr>
            <a:r>
              <a:rPr lang="en-IN" dirty="0"/>
              <a:t>brew install helm</a:t>
            </a:r>
            <a:br>
              <a:rPr lang="en-IN" dirty="0"/>
            </a:br>
            <a:r>
              <a:rPr lang="en-IN" dirty="0" err="1"/>
              <a:t>helm</a:t>
            </a:r>
            <a:r>
              <a:rPr lang="en-IN" dirty="0"/>
              <a:t> version</a:t>
            </a:r>
          </a:p>
          <a:p>
            <a:pPr marL="0" indent="0">
              <a:buNone/>
            </a:pPr>
            <a:r>
              <a:rPr lang="en-US" b="1" dirty="0"/>
              <a:t>Step 4: Install Kubeflow Pipelines via Helm</a:t>
            </a:r>
          </a:p>
          <a:p>
            <a:r>
              <a:rPr lang="en-US" dirty="0"/>
              <a:t>We’ll use the </a:t>
            </a:r>
            <a:r>
              <a:rPr lang="en-US" b="1" dirty="0" err="1"/>
              <a:t>GetInData</a:t>
            </a:r>
            <a:r>
              <a:rPr lang="en-US" b="1" dirty="0"/>
              <a:t> Helm chart</a:t>
            </a:r>
            <a:r>
              <a:rPr lang="en-US" dirty="0"/>
              <a:t> — a simplified way to install Kubeflow Pipelines:</a:t>
            </a:r>
          </a:p>
          <a:p>
            <a:pPr marL="0" indent="0">
              <a:buNone/>
            </a:pPr>
            <a:r>
              <a:rPr lang="it-IT" dirty="0"/>
              <a:t>helm repo add getindata https://getindata.github.io/helm-charts/</a:t>
            </a:r>
            <a:br>
              <a:rPr lang="it-IT" dirty="0"/>
            </a:br>
            <a:r>
              <a:rPr lang="it-IT" dirty="0"/>
              <a:t>helm repo update</a:t>
            </a:r>
          </a:p>
          <a:p>
            <a:pPr marL="0" indent="0">
              <a:buNone/>
            </a:pPr>
            <a:r>
              <a:rPr lang="en-IN" dirty="0"/>
              <a:t>helm install my-</a:t>
            </a:r>
            <a:r>
              <a:rPr lang="en-IN" dirty="0" err="1"/>
              <a:t>kubeflow</a:t>
            </a:r>
            <a:r>
              <a:rPr lang="en-IN" dirty="0"/>
              <a:t>-pipelines </a:t>
            </a:r>
            <a:r>
              <a:rPr lang="en-IN" dirty="0" err="1"/>
              <a:t>getindata</a:t>
            </a:r>
            <a:r>
              <a:rPr lang="en-IN" dirty="0"/>
              <a:t>/</a:t>
            </a:r>
            <a:r>
              <a:rPr lang="en-IN" dirty="0" err="1"/>
              <a:t>kubeflow</a:t>
            </a:r>
            <a:r>
              <a:rPr lang="en-IN" dirty="0"/>
              <a:t>-pipelines \</a:t>
            </a:r>
            <a:br>
              <a:rPr lang="en-IN" dirty="0"/>
            </a:br>
            <a:r>
              <a:rPr lang="en-IN" dirty="0"/>
              <a:t>  --version 1.6.2 \</a:t>
            </a:r>
            <a:br>
              <a:rPr lang="en-IN" dirty="0"/>
            </a:br>
            <a:r>
              <a:rPr lang="en-IN" dirty="0"/>
              <a:t>  --set </a:t>
            </a:r>
            <a:r>
              <a:rPr lang="en-IN" dirty="0" err="1"/>
              <a:t>platform.managedStorage.enabled</a:t>
            </a:r>
            <a:r>
              <a:rPr lang="en-IN" dirty="0"/>
              <a:t>=false \</a:t>
            </a:r>
            <a:br>
              <a:rPr lang="en-IN" dirty="0"/>
            </a:br>
            <a:r>
              <a:rPr lang="en-IN" dirty="0"/>
              <a:t>  --set </a:t>
            </a:r>
            <a:r>
              <a:rPr lang="en-IN" dirty="0" err="1"/>
              <a:t>platform.cloud</a:t>
            </a:r>
            <a:r>
              <a:rPr lang="en-IN" dirty="0"/>
              <a:t>=</a:t>
            </a:r>
            <a:r>
              <a:rPr lang="en-IN" dirty="0" err="1"/>
              <a:t>gcp</a:t>
            </a:r>
            <a:r>
              <a:rPr lang="en-IN" dirty="0"/>
              <a:t> \</a:t>
            </a:r>
            <a:br>
              <a:rPr lang="en-IN" dirty="0"/>
            </a:br>
            <a:r>
              <a:rPr lang="en-IN" dirty="0"/>
              <a:t>  --set </a:t>
            </a:r>
            <a:r>
              <a:rPr lang="en-IN" dirty="0" err="1"/>
              <a:t>platform.gcp.proxyEnabled</a:t>
            </a:r>
            <a:r>
              <a:rPr lang="en-IN" dirty="0"/>
              <a:t>=false \</a:t>
            </a:r>
            <a:br>
              <a:rPr lang="en-IN" dirty="0"/>
            </a:br>
            <a:r>
              <a:rPr lang="en-IN" dirty="0"/>
              <a:t>  --namespace </a:t>
            </a:r>
            <a:r>
              <a:rPr lang="en-IN" dirty="0" err="1"/>
              <a:t>kubeflow</a:t>
            </a:r>
            <a:r>
              <a:rPr lang="en-IN" dirty="0"/>
              <a:t>-pipelines \</a:t>
            </a:r>
            <a:br>
              <a:rPr lang="en-IN" dirty="0"/>
            </a:br>
            <a:r>
              <a:rPr lang="en-IN" dirty="0"/>
              <a:t>  --create-</a:t>
            </a:r>
            <a:r>
              <a:rPr lang="en-IN" dirty="0" err="1"/>
              <a:t>namespacekubectl</a:t>
            </a:r>
            <a:r>
              <a:rPr lang="en-IN" dirty="0"/>
              <a:t> get pods -n </a:t>
            </a:r>
            <a:r>
              <a:rPr lang="en-IN" dirty="0" err="1"/>
              <a:t>kubeflow</a:t>
            </a:r>
            <a:r>
              <a:rPr lang="en-IN" dirty="0"/>
              <a:t>-pipelines</a:t>
            </a:r>
          </a:p>
          <a:p>
            <a:pPr marL="0" indent="0">
              <a:buNone/>
            </a:pPr>
            <a:r>
              <a:rPr lang="en-US" dirty="0"/>
              <a:t>Wait for all pods to reach the </a:t>
            </a:r>
            <a:r>
              <a:rPr lang="en-US" b="1" dirty="0"/>
              <a:t>Running</a:t>
            </a:r>
            <a:r>
              <a:rPr lang="en-US" dirty="0"/>
              <a:t> state.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F41134-6D2A-F60F-C9A2-F00D7BD39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191" y="4543631"/>
            <a:ext cx="6011026" cy="185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582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B91B-7BE8-CE6E-F51B-2B0182010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2F6EC-8816-6C18-49D0-C7C3367C9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5: Access the Kubeflow UI</a:t>
            </a:r>
          </a:p>
          <a:p>
            <a:pPr marL="0" indent="0">
              <a:buNone/>
            </a:pPr>
            <a:r>
              <a:rPr lang="en-US" dirty="0"/>
              <a:t>Forward the Kubeflow UI service to your localhost:</a:t>
            </a:r>
          </a:p>
          <a:p>
            <a:pPr marL="0" indent="0">
              <a:buNone/>
            </a:pPr>
            <a:r>
              <a:rPr lang="en-IN" dirty="0" err="1"/>
              <a:t>kubectl</a:t>
            </a:r>
            <a:r>
              <a:rPr lang="en-IN" dirty="0"/>
              <a:t> port-forward -n </a:t>
            </a:r>
            <a:r>
              <a:rPr lang="en-IN" dirty="0" err="1"/>
              <a:t>kubeflow</a:t>
            </a:r>
            <a:r>
              <a:rPr lang="en-IN" dirty="0"/>
              <a:t>-pipelines svc/ml-pipeline-</a:t>
            </a:r>
            <a:r>
              <a:rPr lang="en-IN" dirty="0" err="1"/>
              <a:t>ui</a:t>
            </a:r>
            <a:r>
              <a:rPr lang="en-IN" dirty="0"/>
              <a:t> 8080:80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Now, open your browser and visit:</a:t>
            </a:r>
            <a:br>
              <a:rPr lang="en-US" dirty="0"/>
            </a:br>
            <a:r>
              <a:rPr lang="en-US" dirty="0"/>
              <a:t>👉 </a:t>
            </a:r>
            <a:r>
              <a:rPr lang="en-US" b="1" u="sng" dirty="0">
                <a:hlinkClick r:id="rId2"/>
              </a:rPr>
              <a:t>http://localhost:8080</a:t>
            </a:r>
            <a:endParaRPr lang="en-IN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9B9EBC8-4EBD-D2E3-77B5-006F0852B3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C33633-1520-B430-9458-1A29ABE55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71621"/>
            <a:ext cx="5368814" cy="210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3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CB2D-CA7E-A71A-98FE-AACC2C752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F8CA4-F7B3-66D7-F410-3EB66EFD9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6: Set Up Your Python Environment</a:t>
            </a:r>
          </a:p>
          <a:p>
            <a:r>
              <a:rPr lang="en-US" dirty="0"/>
              <a:t>Let’s create a Python environment for defining our ML pipelines.</a:t>
            </a:r>
          </a:p>
          <a:p>
            <a:pPr marL="0" indent="0">
              <a:buNone/>
            </a:pPr>
            <a:r>
              <a:rPr lang="en-IN" dirty="0" err="1"/>
              <a:t>mkdir</a:t>
            </a:r>
            <a:r>
              <a:rPr lang="en-IN" dirty="0"/>
              <a:t> </a:t>
            </a:r>
            <a:r>
              <a:rPr lang="en-IN" dirty="0" err="1"/>
              <a:t>kfp</a:t>
            </a:r>
            <a:r>
              <a:rPr lang="en-IN" dirty="0"/>
              <a:t> &amp;&amp; cd </a:t>
            </a:r>
            <a:r>
              <a:rPr lang="en-IN" dirty="0" err="1"/>
              <a:t>kfp</a:t>
            </a:r>
            <a:br>
              <a:rPr lang="en-IN" dirty="0"/>
            </a:br>
            <a:r>
              <a:rPr lang="en-IN" dirty="0"/>
              <a:t>python3 -m </a:t>
            </a:r>
            <a:r>
              <a:rPr lang="en-IN" dirty="0" err="1"/>
              <a:t>venv</a:t>
            </a:r>
            <a:r>
              <a:rPr lang="en-IN" dirty="0"/>
              <a:t> .</a:t>
            </a:r>
            <a:r>
              <a:rPr lang="en-IN" dirty="0" err="1"/>
              <a:t>kfp</a:t>
            </a:r>
            <a:br>
              <a:rPr lang="en-IN" dirty="0"/>
            </a:br>
            <a:r>
              <a:rPr lang="en-IN" dirty="0"/>
              <a:t>source .</a:t>
            </a:r>
            <a:r>
              <a:rPr lang="en-IN" dirty="0" err="1"/>
              <a:t>kfp</a:t>
            </a:r>
            <a:r>
              <a:rPr lang="en-IN" dirty="0"/>
              <a:t>/bin/activate</a:t>
            </a:r>
          </a:p>
          <a:p>
            <a:pPr marL="0" indent="0">
              <a:buNone/>
            </a:pPr>
            <a:r>
              <a:rPr lang="en-IN" dirty="0"/>
              <a:t>pip install </a:t>
            </a:r>
            <a:r>
              <a:rPr lang="en-IN" dirty="0" err="1"/>
              <a:t>kfp</a:t>
            </a:r>
            <a:r>
              <a:rPr lang="en-IN" dirty="0"/>
              <a:t>==2.14.6</a:t>
            </a:r>
            <a:br>
              <a:rPr lang="en-IN" dirty="0"/>
            </a:br>
            <a:r>
              <a:rPr lang="en-IN" dirty="0"/>
              <a:t>python3 -c "import </a:t>
            </a:r>
            <a:r>
              <a:rPr lang="en-IN" dirty="0" err="1"/>
              <a:t>kfp</a:t>
            </a:r>
            <a:r>
              <a:rPr lang="en-IN" dirty="0"/>
              <a:t>; print(</a:t>
            </a:r>
            <a:r>
              <a:rPr lang="en-IN" dirty="0" err="1"/>
              <a:t>f'KFP</a:t>
            </a:r>
            <a:r>
              <a:rPr lang="en-IN" dirty="0"/>
              <a:t> version: {</a:t>
            </a:r>
            <a:r>
              <a:rPr lang="en-IN" dirty="0" err="1"/>
              <a:t>kfp</a:t>
            </a:r>
            <a:r>
              <a:rPr lang="en-IN" dirty="0"/>
              <a:t>.__version__}')"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5271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49E04-DD26-5659-AD35-3E2E68A4D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BD3F2-DBEF-5A56-AA10-C3C9E161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59964-6D8C-6364-8411-ECF31D081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Step 7: Build an ML Pipeline</a:t>
            </a:r>
          </a:p>
          <a:p>
            <a:pPr marL="0" indent="0">
              <a:buNone/>
            </a:pPr>
            <a:r>
              <a:rPr lang="en-IN" dirty="0"/>
              <a:t>Our demo pipeline will:</a:t>
            </a:r>
          </a:p>
          <a:p>
            <a:r>
              <a:rPr lang="en-IN" dirty="0"/>
              <a:t>Generate a synthetic dataset</a:t>
            </a:r>
          </a:p>
          <a:p>
            <a:r>
              <a:rPr lang="en-IN" dirty="0"/>
              <a:t>Split it into train/test sets</a:t>
            </a:r>
          </a:p>
          <a:p>
            <a:r>
              <a:rPr lang="en-IN" dirty="0"/>
              <a:t>Train a rule-based classifier</a:t>
            </a:r>
          </a:p>
          <a:p>
            <a:r>
              <a:rPr lang="en-IN" dirty="0"/>
              <a:t>Evaluate metrics</a:t>
            </a:r>
          </a:p>
          <a:p>
            <a:r>
              <a:rPr lang="en-IN" dirty="0"/>
              <a:t>Generate a simple report</a:t>
            </a:r>
          </a:p>
          <a:p>
            <a:pPr marL="0" indent="0">
              <a:buNone/>
            </a:pPr>
            <a:r>
              <a:rPr lang="en-IN" dirty="0"/>
              <a:t>Here’s a simplified version of the pipeline YAML: </a:t>
            </a:r>
            <a:r>
              <a:rPr lang="en-IN" dirty="0" err="1"/>
              <a:t>another_kubeflow_pipeline_demo.yaml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kubeflow</a:t>
            </a:r>
            <a:r>
              <a:rPr lang="en-IN" dirty="0"/>
              <a:t>-pipeline-</a:t>
            </a:r>
            <a:r>
              <a:rPr lang="en-IN" dirty="0" err="1"/>
              <a:t>demo.yaml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176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4ECA6-8352-75C2-43EB-458C00F25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E6332-CFAD-5431-7062-58074439B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8: Upload &amp; Run the Pipeline</a:t>
            </a:r>
          </a:p>
          <a:p>
            <a:pPr marL="0" indent="0">
              <a:buNone/>
            </a:pPr>
            <a:r>
              <a:rPr lang="en-IN" dirty="0"/>
              <a:t>Upload Pipeline</a:t>
            </a:r>
          </a:p>
          <a:p>
            <a:pPr marL="0" indent="0">
              <a:buNone/>
            </a:pPr>
            <a:r>
              <a:rPr lang="en-IN" dirty="0"/>
              <a:t>In the Kubeflow UI → “Upload Pipeline”</a:t>
            </a:r>
          </a:p>
          <a:p>
            <a:pPr marL="0" indent="0">
              <a:buNone/>
            </a:pPr>
            <a:r>
              <a:rPr lang="en-IN" dirty="0"/>
              <a:t>Select your </a:t>
            </a:r>
            <a:r>
              <a:rPr lang="en-IN" dirty="0" err="1"/>
              <a:t>simple_demo.yaml</a:t>
            </a:r>
            <a:r>
              <a:rPr lang="en-IN" dirty="0"/>
              <a:t> file</a:t>
            </a:r>
          </a:p>
          <a:p>
            <a:pPr marL="0" indent="0">
              <a:buNone/>
            </a:pPr>
            <a:r>
              <a:rPr lang="en-IN" dirty="0"/>
              <a:t>Click Upload</a:t>
            </a:r>
          </a:p>
          <a:p>
            <a:pPr marL="0" indent="0">
              <a:buNone/>
            </a:pPr>
            <a:r>
              <a:rPr lang="en-IN" dirty="0"/>
              <a:t>Run Pipeline</a:t>
            </a:r>
          </a:p>
          <a:p>
            <a:pPr marL="0" indent="0">
              <a:buNone/>
            </a:pPr>
            <a:r>
              <a:rPr lang="en-IN" dirty="0"/>
              <a:t>Select your pipeline</a:t>
            </a:r>
          </a:p>
          <a:p>
            <a:pPr marL="0" indent="0">
              <a:buNone/>
            </a:pPr>
            <a:r>
              <a:rPr lang="en-IN" dirty="0"/>
              <a:t>Click Create Run → Start</a:t>
            </a:r>
          </a:p>
        </p:txBody>
      </p:sp>
    </p:spTree>
    <p:extLst>
      <p:ext uri="{BB962C8B-B14F-4D97-AF65-F5344CB8AC3E}">
        <p14:creationId xmlns:p14="http://schemas.microsoft.com/office/powerpoint/2010/main" val="2784734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C0CA-3ADC-3573-0A5A-D5E72B5AF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236F-EC56-33BE-F764-0DE523482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1DF5E-5E40-FEF3-D9C0-FC49E7338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9: Monitor Pipeline Execution</a:t>
            </a:r>
          </a:p>
          <a:p>
            <a:pPr marL="0" indent="0">
              <a:buNone/>
            </a:pPr>
            <a:r>
              <a:rPr lang="en-US" b="1" dirty="0"/>
              <a:t>As the pipeline runs, you’ll see: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Real-time logs and status updates</a:t>
            </a:r>
          </a:p>
          <a:p>
            <a:pPr marL="0" indent="0">
              <a:buNone/>
            </a:pPr>
            <a:r>
              <a:rPr lang="en-US" b="1" dirty="0"/>
              <a:t>Execution times for each step</a:t>
            </a:r>
          </a:p>
          <a:p>
            <a:pPr marL="0" indent="0">
              <a:buNone/>
            </a:pPr>
            <a:r>
              <a:rPr lang="en-US" b="1" dirty="0"/>
              <a:t>Output metrics and visual artifacts</a:t>
            </a:r>
          </a:p>
          <a:p>
            <a:pPr marL="0" indent="0">
              <a:buNone/>
            </a:pPr>
            <a:r>
              <a:rPr lang="en-US" b="1" dirty="0"/>
              <a:t>A DAG (Directed Acyclic Graph)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277457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114E0-300C-B031-0A2A-5536F79DA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the ML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6DD69-30E9-7C1D-EC72-6BB5D8DAC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Model</a:t>
            </a:r>
          </a:p>
          <a:p>
            <a:r>
              <a:rPr lang="en-US" dirty="0"/>
              <a:t>Our model is a </a:t>
            </a:r>
            <a:r>
              <a:rPr lang="en-US" b="1" dirty="0"/>
              <a:t>rule-based classifier</a:t>
            </a:r>
            <a:r>
              <a:rPr lang="en-US" dirty="0"/>
              <a:t>:</a:t>
            </a:r>
          </a:p>
          <a:p>
            <a:r>
              <a:rPr lang="en-US" dirty="0"/>
              <a:t>If the sum of three features &gt; 15 → Predict 1, else 0.</a:t>
            </a:r>
            <a:endParaRPr lang="en-US" i="1" dirty="0"/>
          </a:p>
          <a:p>
            <a:r>
              <a:rPr lang="en-US" dirty="0"/>
              <a:t>It’s intentionally simple — perfect for demonstrating reproducible ML pipelines.</a:t>
            </a:r>
          </a:p>
          <a:p>
            <a:pPr marL="0" indent="0">
              <a:buNone/>
            </a:pPr>
            <a:r>
              <a:rPr lang="en-IN" b="1" dirty="0"/>
              <a:t>Pipeline Steps</a:t>
            </a:r>
          </a:p>
          <a:p>
            <a:r>
              <a:rPr lang="en-IN" b="1" dirty="0"/>
              <a:t>Data Generation</a:t>
            </a:r>
            <a:r>
              <a:rPr lang="en-IN" dirty="0"/>
              <a:t> — Creates 1,000 samples</a:t>
            </a:r>
          </a:p>
          <a:p>
            <a:r>
              <a:rPr lang="en-IN" b="1" dirty="0"/>
              <a:t>Split</a:t>
            </a:r>
            <a:r>
              <a:rPr lang="en-IN" dirty="0"/>
              <a:t> — 80/20 train-test split</a:t>
            </a:r>
          </a:p>
          <a:p>
            <a:r>
              <a:rPr lang="en-IN" b="1" dirty="0"/>
              <a:t>Train</a:t>
            </a:r>
            <a:r>
              <a:rPr lang="en-IN" dirty="0"/>
              <a:t> — Applies classification rule</a:t>
            </a:r>
          </a:p>
          <a:p>
            <a:r>
              <a:rPr lang="en-IN" b="1" dirty="0"/>
              <a:t>Evaluate</a:t>
            </a:r>
            <a:r>
              <a:rPr lang="en-IN" dirty="0"/>
              <a:t> — Calculates Accuracy, Precision, Recall, F1</a:t>
            </a:r>
          </a:p>
          <a:p>
            <a:r>
              <a:rPr lang="en-IN" b="1" dirty="0"/>
              <a:t>Report</a:t>
            </a:r>
            <a:r>
              <a:rPr lang="en-IN" dirty="0"/>
              <a:t> — Generates a concise summary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109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17C38-40B7-1F8F-3F8A-A8624A15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27783-E639-3B7D-6F3C-5D3B3A7CA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the ML 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E7BF61-EACA-9016-0046-63AEE87E08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163" y="1600200"/>
            <a:ext cx="5566935" cy="21233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949E83-22C9-8E72-7DAA-A303DC913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219" y="1600201"/>
            <a:ext cx="3505437" cy="20181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3905B6-9274-E652-2946-1DBE12E5B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458" y="3851419"/>
            <a:ext cx="5016542" cy="28880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87913C-A117-9EC5-C26A-F45488479511}"/>
              </a:ext>
            </a:extLst>
          </p:cNvPr>
          <p:cNvSpPr txBox="1"/>
          <p:nvPr/>
        </p:nvSpPr>
        <p:spPr>
          <a:xfrm>
            <a:off x="6422010" y="385141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6B6B6B"/>
                </a:solidFill>
                <a:effectLst/>
                <a:latin typeface="sohne"/>
              </a:rPr>
              <a:t>Model training steps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7FF602-F20A-9E74-237B-BB7014699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853" y="4657851"/>
            <a:ext cx="5016543" cy="7739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8F1C70-C274-E64C-375F-ACC143488517}"/>
              </a:ext>
            </a:extLst>
          </p:cNvPr>
          <p:cNvSpPr txBox="1"/>
          <p:nvPr/>
        </p:nvSpPr>
        <p:spPr>
          <a:xfrm>
            <a:off x="6339525" y="5779062"/>
            <a:ext cx="6259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created. jobs for our model training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3535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8A9AA-B2FE-1F35-C7C4-2CF6B8F9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63A3-B140-91B7-DCD5-415EBD4D5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the ML Pipeline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AC2ED-9AEB-61DC-7F67-5EC651920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485" y="181890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Expected Metrics:</a:t>
            </a:r>
            <a:endParaRPr lang="en-US"/>
          </a:p>
          <a:p>
            <a:r>
              <a:rPr lang="en-US"/>
              <a:t>Accuracy ≈ 95%</a:t>
            </a:r>
          </a:p>
          <a:p>
            <a:r>
              <a:rPr lang="en-US"/>
              <a:t>Precision ≈ 94%</a:t>
            </a:r>
          </a:p>
          <a:p>
            <a:r>
              <a:rPr lang="en-US"/>
              <a:t>Recall ≈ 96%</a:t>
            </a:r>
          </a:p>
          <a:p>
            <a:r>
              <a:rPr lang="en-US"/>
              <a:t>F1-Score ≈ 95%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FD85CA-CA8A-24AB-A6C1-325B76E2E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518" y="1818909"/>
            <a:ext cx="6881567" cy="35145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74A3CE-7D77-733E-1412-6445A927D595}"/>
              </a:ext>
            </a:extLst>
          </p:cNvPr>
          <p:cNvSpPr txBox="1"/>
          <p:nvPr/>
        </p:nvSpPr>
        <p:spPr>
          <a:xfrm>
            <a:off x="4478518" y="580091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Model training results</a:t>
            </a:r>
          </a:p>
        </p:txBody>
      </p:sp>
    </p:spTree>
    <p:extLst>
      <p:ext uri="{BB962C8B-B14F-4D97-AF65-F5344CB8AC3E}">
        <p14:creationId xmlns:p14="http://schemas.microsoft.com/office/powerpoint/2010/main" val="2404160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F25A8-C40B-08EE-B235-7CC2726D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BE9D8-330B-491E-22FD-973AD2694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Now that Kubeflow Pipelines are running locally, you can:</a:t>
            </a:r>
          </a:p>
          <a:p>
            <a:pPr marL="0" indent="0">
              <a:buNone/>
            </a:pPr>
            <a:r>
              <a:rPr lang="en-IN" dirty="0"/>
              <a:t>Build More Complex Pipelines</a:t>
            </a:r>
          </a:p>
          <a:p>
            <a:pPr lvl="1"/>
            <a:r>
              <a:rPr lang="en-IN" dirty="0"/>
              <a:t>Integrate scikit-learn or TensorFlow models</a:t>
            </a:r>
          </a:p>
          <a:p>
            <a:pPr lvl="1"/>
            <a:r>
              <a:rPr lang="en-IN" dirty="0"/>
              <a:t>Add data preprocessing, validation, and monitoring steps</a:t>
            </a:r>
          </a:p>
          <a:p>
            <a:pPr lvl="1"/>
            <a:r>
              <a:rPr lang="en-IN" dirty="0"/>
              <a:t>Leverage Katib for automated hyperparameter tuning</a:t>
            </a:r>
          </a:p>
          <a:p>
            <a:pPr marL="0" indent="0">
              <a:buNone/>
            </a:pPr>
            <a:r>
              <a:rPr lang="en-IN" b="1" dirty="0"/>
              <a:t>Scale to Production</a:t>
            </a:r>
          </a:p>
          <a:p>
            <a:pPr lvl="1"/>
            <a:r>
              <a:rPr lang="en-IN" dirty="0"/>
              <a:t>Deploy pipelines to cloud Kubernetes clusters (EKS, GKE, AKS)</a:t>
            </a:r>
          </a:p>
          <a:p>
            <a:pPr lvl="1"/>
            <a:r>
              <a:rPr lang="en-IN" dirty="0"/>
              <a:t>Integrate CI/CD with GitHub Actions or Argo CD</a:t>
            </a:r>
          </a:p>
          <a:p>
            <a:pPr lvl="1"/>
            <a:r>
              <a:rPr lang="en-IN" dirty="0"/>
              <a:t>Add model drift detection and real-time monitoring</a:t>
            </a:r>
          </a:p>
          <a:p>
            <a:pPr marL="0" indent="0">
              <a:buNone/>
            </a:pPr>
            <a:r>
              <a:rPr lang="en-US" b="1" dirty="0"/>
              <a:t>Collaborate &amp; Iterate</a:t>
            </a:r>
          </a:p>
          <a:p>
            <a:pPr lvl="1"/>
            <a:r>
              <a:rPr lang="en-US" dirty="0"/>
              <a:t>Share pipelines across teams</a:t>
            </a:r>
          </a:p>
          <a:p>
            <a:pPr lvl="1"/>
            <a:r>
              <a:rPr lang="en-US" dirty="0"/>
              <a:t>Version control your workflows</a:t>
            </a:r>
          </a:p>
          <a:p>
            <a:pPr lvl="1"/>
            <a:r>
              <a:rPr lang="en-US" dirty="0"/>
              <a:t>Automate experiments for faster iteration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5492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3BD7-6B66-13EA-3A3A-5C16B79C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A8540-6D19-0D4E-7160-8BE00DFA7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Pods Not Starting</a:t>
            </a:r>
          </a:p>
          <a:p>
            <a:r>
              <a:rPr lang="en-IN" dirty="0" err="1"/>
              <a:t>kubectl</a:t>
            </a:r>
            <a:r>
              <a:rPr lang="en-IN" dirty="0"/>
              <a:t> get pods -n </a:t>
            </a:r>
            <a:r>
              <a:rPr lang="en-IN" dirty="0" err="1"/>
              <a:t>kubeflow</a:t>
            </a:r>
            <a:r>
              <a:rPr lang="en-IN" dirty="0"/>
              <a:t>-pipelines</a:t>
            </a:r>
            <a:br>
              <a:rPr lang="en-IN" dirty="0"/>
            </a:br>
            <a:r>
              <a:rPr lang="en-IN" dirty="0" err="1"/>
              <a:t>kubectl</a:t>
            </a:r>
            <a:r>
              <a:rPr lang="en-IN" dirty="0"/>
              <a:t> logs &lt;pod-name&gt; -n </a:t>
            </a:r>
            <a:r>
              <a:rPr lang="en-IN" dirty="0" err="1"/>
              <a:t>kubeflow</a:t>
            </a:r>
            <a:r>
              <a:rPr lang="en-IN" dirty="0"/>
              <a:t>-pipelines</a:t>
            </a:r>
          </a:p>
          <a:p>
            <a:pPr marL="0" indent="0">
              <a:buNone/>
            </a:pPr>
            <a:r>
              <a:rPr lang="en-IN" b="1" dirty="0"/>
              <a:t>UI Not Accessible</a:t>
            </a:r>
          </a:p>
          <a:p>
            <a:pPr marL="0" indent="0">
              <a:buNone/>
            </a:pPr>
            <a:r>
              <a:rPr lang="en-IN" dirty="0" err="1"/>
              <a:t>kubectl</a:t>
            </a:r>
            <a:r>
              <a:rPr lang="en-IN" dirty="0"/>
              <a:t> port-forward -n </a:t>
            </a:r>
            <a:r>
              <a:rPr lang="en-IN" dirty="0" err="1"/>
              <a:t>kubeflow</a:t>
            </a:r>
            <a:r>
              <a:rPr lang="en-IN" dirty="0"/>
              <a:t>-pipelines svc/ml-pipeline-</a:t>
            </a:r>
            <a:r>
              <a:rPr lang="en-IN" dirty="0" err="1"/>
              <a:t>ui</a:t>
            </a:r>
            <a:r>
              <a:rPr lang="en-IN" dirty="0"/>
              <a:t> 8080:80</a:t>
            </a:r>
          </a:p>
          <a:p>
            <a:pPr marL="0" indent="0">
              <a:buNone/>
            </a:pPr>
            <a:r>
              <a:rPr lang="en-IN" b="1" dirty="0"/>
              <a:t>Clean Restart</a:t>
            </a:r>
          </a:p>
          <a:p>
            <a:pPr marL="0" indent="0">
              <a:buNone/>
            </a:pPr>
            <a:r>
              <a:rPr lang="en-US" dirty="0"/>
              <a:t>kind delete cluster --name kind-cluster</a:t>
            </a:r>
            <a:br>
              <a:rPr lang="en-US" dirty="0"/>
            </a:br>
            <a:r>
              <a:rPr lang="en-US" dirty="0"/>
              <a:t>kind create cluster --name kind-cluster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2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1185</Words>
  <Application>Microsoft Office PowerPoint</Application>
  <PresentationFormat>Widescreen</PresentationFormat>
  <Paragraphs>148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sohne</vt:lpstr>
      <vt:lpstr>Office Theme</vt:lpstr>
      <vt:lpstr>Building ML Pipelines with Kubeflow: A Complete Guide for MlOps </vt:lpstr>
      <vt:lpstr>Why Kubeflow?</vt:lpstr>
      <vt:lpstr>Kubeflow</vt:lpstr>
      <vt:lpstr> What Problems Does Kubeflow Solve?</vt:lpstr>
      <vt:lpstr>Understanding Kubeflow Components</vt:lpstr>
      <vt:lpstr>Prerequisites (Local Setup)</vt:lpstr>
      <vt:lpstr>Steps</vt:lpstr>
      <vt:lpstr>Steps</vt:lpstr>
      <vt:lpstr>Steps</vt:lpstr>
      <vt:lpstr>Steps</vt:lpstr>
      <vt:lpstr>Steps</vt:lpstr>
      <vt:lpstr>Steps</vt:lpstr>
      <vt:lpstr>Steps</vt:lpstr>
      <vt:lpstr>Understanding the ML Pipeline</vt:lpstr>
      <vt:lpstr>Understanding the ML Pipeline</vt:lpstr>
      <vt:lpstr>Understanding the ML Pipeline</vt:lpstr>
      <vt:lpstr>What’s Next?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Prabhat Chandra</dc:creator>
  <cp:lastModifiedBy>Prabhat Chandra</cp:lastModifiedBy>
  <cp:revision>1</cp:revision>
  <dcterms:created xsi:type="dcterms:W3CDTF">2026-04-28T07:44:41Z</dcterms:created>
  <dcterms:modified xsi:type="dcterms:W3CDTF">2026-04-28T08:15:45Z</dcterms:modified>
</cp:coreProperties>
</file>