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3907A-9AD3-425B-AF1B-546E8BCF27B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89570-58D3-428D-AFFC-0675841067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90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High-Level Architecture</a:t>
            </a:r>
          </a:p>
          <a:p>
            <a:r>
              <a:rPr lang="en-IN" dirty="0"/>
              <a:t>[Data Sources] → [Ingestion Layer] → [Processing/Transformation] → [Storage] → [Consumption]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89570-58D3-428D-AFFC-06758410677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81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Source :https://github.com/</a:t>
            </a:r>
            <a:r>
              <a:rPr lang="en-IN" dirty="0" err="1"/>
              <a:t>Ridhic</a:t>
            </a:r>
            <a:r>
              <a:rPr lang="en-IN" dirty="0"/>
              <a:t>/</a:t>
            </a:r>
            <a:r>
              <a:rPr lang="en-IN" dirty="0" err="1"/>
              <a:t>imdb_pipeline</a:t>
            </a:r>
            <a:endParaRPr lang="en-IN" dirty="0"/>
          </a:p>
          <a:p>
            <a:r>
              <a:rPr lang="en-IN" dirty="0"/>
              <a:t>https://medium.com/%40ridhicrijo.2000/building-a-real-time-and-batch-data-pipeline-with-apache-spark-kafka-airflow-postgresql-and-a17cf9a5a12c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89570-58D3-428D-AFFC-06758410677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87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https://dzone.com/articles/what-is-a-data-pipeline?utm_source=chatgpt.com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89570-58D3-428D-AFFC-06758410677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033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89570-58D3-428D-AFFC-06758410677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07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https://medium.com/%40pooja9900111/orchestrating-etl-pipeline-with-apache-airflow-04860c85d7a2</a:t>
            </a:r>
          </a:p>
          <a:p>
            <a:r>
              <a:rPr lang="en-IN" dirty="0"/>
              <a:t>https://github.com/DataEngMastero/DataEnggProjects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89570-58D3-428D-AFFC-067584106774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54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162D-A5F6-FE4C-1F82-ACEF89DCF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6EDAB-B106-00AF-B0E5-38F11C75F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5290B-49CF-F6F7-01D0-B1C04326C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45FF7-DC0D-F717-963A-6BABE3BF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A2F6-970B-3A9B-BFFB-0C059386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81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CF984-307C-9F13-A674-DC9D7317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3D13-A55F-AEF6-828C-E521A9B80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ECE77-2122-5E17-483D-EC0097E8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AC666-22CD-5321-D447-9D9187D58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EB802-67E3-3D1A-4FB6-854F3323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43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E234-B8A8-5C86-3348-528F6372F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B473D-6519-3589-A69D-EF7ABFE6A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02B66-1C0F-4B64-74E2-FC592F06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92541-22D0-3CD1-EF21-0A4C19E2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3893F-6F89-DC8D-155E-600B4C5E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21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E862-CE48-DD17-9694-6F88E72B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68652-B34C-9B03-4A6F-8CD764071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E8D44-A1AD-E5D2-00D8-FE0103F3B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DFC30-2B13-DCD5-03B5-CB3E6498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615B6-DE43-4FFE-3388-F87C8BFF5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F554A-2622-604B-78BE-F293C64A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02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093F-A830-7D9E-F6CB-D82F2A03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3A629-78CC-E0FA-4237-00A5C8A2B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66E02-0F6D-8E5F-278F-4C45E50B6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50C2C-8556-DB54-5503-709F01120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456F9-A3DB-E809-B1A8-1005306FC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7DB7B-88C7-A501-6634-3B7A0E2A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97F5A-7267-651B-5036-6A26176C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CE55C1-E31E-9C8D-40BE-4430AD653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05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608B-1EAD-A439-0617-46944972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898D7-0C44-4D27-0CE5-79B44CEC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235E4-AA91-632A-5AFB-3E9F39AF8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4ED04-CB63-AFBF-9D7B-94944CCA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810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3C9D4-2423-E879-7248-56EBF96F4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53063-6C69-312E-1525-3E36AA14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F7DD0-9316-9BE7-D634-9CCD2462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94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46EEC-FE76-87F0-11EB-2D58BAFF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B43F2-FBB5-54FB-43B1-3E2D24F89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1F369-0186-8D70-E681-FB2D90DCC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24AEC-AC16-93A8-10CD-363025CA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1A468-BD75-C107-EA9B-D8FD6873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DC795-118C-413B-78D0-ED31D31F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822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F86C-214A-6C27-CDAF-D10DA7BB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22E1F1-CDE7-A8AF-11BD-F2A34F333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EB367-4FF0-E9CF-1DCB-1E9E91394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5112A-59CA-365E-411D-95A57CD8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0D67B-3088-1ED9-F5AC-3EC4CEC5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26D66-7EFA-272B-BE1D-3E7D2530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07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3545-19A4-F14C-BEDE-007B070E6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901A1-737C-A623-9B46-99DDA1D7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F9604-57BA-FE38-0BB1-C9ED2034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DA365-926A-3628-55AB-60EEB740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531BA-5E2A-7391-7CA5-E78FB5B0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72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A36CF8-C105-DB69-0B1C-DB58C50AC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5B2EC-9C4B-80A6-7A94-CCB60D02E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7D07D-BACC-A27D-F8C5-FC0FC9318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64BA-C678-CDB6-C320-8BCF9316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F8674-9D8B-69C7-9A3F-1392621A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259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F5106E-8D68-D0A8-2E78-2F7CCD3A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B0A7F-23DB-69D2-1BDC-73E73403B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8A598-FD3F-7D5C-7B6B-784CBEB64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D3AEF-6FF0-400A-954E-73970319901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E2760-F2FE-E406-ACF3-0F5C6E92D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3F1EA-D558-25FA-042F-298E1435D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BA42D-0EED-4B1C-9E75-10DC4DE88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79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EB7C-B19A-4B27-61C5-3C226FEA8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Fundamentals of Data Engineering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9B1A7-05C4-E938-7317-CB185AF8D8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2C81-F197-311F-4543-F7C508F9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Data Engineering in Modern Data Platforms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8D459-15F3-F2B1-E672-BC5E4D8EF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Data Engineering Actually Does</a:t>
            </a:r>
          </a:p>
          <a:p>
            <a:pPr marL="0" indent="0">
              <a:buNone/>
            </a:pPr>
            <a:r>
              <a:rPr lang="en-US" dirty="0"/>
              <a:t>Data Engineering is responsible for:</a:t>
            </a:r>
          </a:p>
          <a:p>
            <a:pPr lvl="1"/>
            <a:r>
              <a:rPr lang="en-US" dirty="0"/>
              <a:t>Collecting data </a:t>
            </a:r>
          </a:p>
          <a:p>
            <a:pPr lvl="1"/>
            <a:r>
              <a:rPr lang="en-US" dirty="0"/>
              <a:t>Processing it </a:t>
            </a:r>
          </a:p>
          <a:p>
            <a:pPr lvl="1"/>
            <a:r>
              <a:rPr lang="en-US" dirty="0"/>
              <a:t>Storing it </a:t>
            </a:r>
          </a:p>
          <a:p>
            <a:pPr lvl="1"/>
            <a:r>
              <a:rPr lang="en-US" dirty="0"/>
              <a:t>Making it usable for analytics, ML, and business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Think of it as </a:t>
            </a:r>
            <a:r>
              <a:rPr lang="en-US" b="1" dirty="0"/>
              <a:t>building highways for data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dirty="0"/>
              <a:t>In a Modern Data Platform:</a:t>
            </a:r>
          </a:p>
          <a:p>
            <a:pPr marL="0" indent="0">
              <a:buNone/>
            </a:pPr>
            <a:r>
              <a:rPr lang="en-IN" dirty="0"/>
              <a:t>Data Sources → Data Engineering → Storage → Analytics / ML / BI</a:t>
            </a:r>
          </a:p>
        </p:txBody>
      </p:sp>
    </p:spTree>
    <p:extLst>
      <p:ext uri="{BB962C8B-B14F-4D97-AF65-F5344CB8AC3E}">
        <p14:creationId xmlns:p14="http://schemas.microsoft.com/office/powerpoint/2010/main" val="2738608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3671-64E2-6F09-7DB5-F25A92F55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Responsibilities: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6FB65-79D6-0DAF-E0B0-609411CCD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Build data pipelines (ETL/ELT)</a:t>
            </a:r>
          </a:p>
          <a:p>
            <a:r>
              <a:rPr lang="en-IN" dirty="0"/>
              <a:t>Ensure data reliability &amp; quality</a:t>
            </a:r>
          </a:p>
          <a:p>
            <a:r>
              <a:rPr lang="en-IN" dirty="0"/>
              <a:t>Optimize performance &amp; cost</a:t>
            </a:r>
          </a:p>
          <a:p>
            <a:r>
              <a:rPr lang="en-IN" dirty="0"/>
              <a:t>Enable data accessibility</a:t>
            </a:r>
          </a:p>
          <a:p>
            <a:pPr marL="0" indent="0">
              <a:buNone/>
            </a:pPr>
            <a:r>
              <a:rPr lang="en-US" b="1" dirty="0"/>
              <a:t>Real-world Example:</a:t>
            </a:r>
          </a:p>
          <a:p>
            <a:pPr marL="0" indent="0">
              <a:buNone/>
            </a:pPr>
            <a:r>
              <a:rPr lang="en-US" dirty="0"/>
              <a:t>At Netflix:</a:t>
            </a:r>
          </a:p>
          <a:p>
            <a:pPr lvl="1"/>
            <a:r>
              <a:rPr lang="en-US" dirty="0"/>
              <a:t>Engineers build pipelines that process </a:t>
            </a:r>
            <a:r>
              <a:rPr lang="en-US" b="1" dirty="0"/>
              <a:t>billions of events/day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This feeds: </a:t>
            </a:r>
          </a:p>
          <a:p>
            <a:pPr lvl="2"/>
            <a:r>
              <a:rPr lang="en-US" dirty="0"/>
              <a:t>Recommendation systems </a:t>
            </a:r>
          </a:p>
          <a:p>
            <a:pPr lvl="2"/>
            <a:r>
              <a:rPr lang="en-US" dirty="0"/>
              <a:t>User analytics </a:t>
            </a:r>
          </a:p>
          <a:p>
            <a:pPr lvl="2"/>
            <a:r>
              <a:rPr lang="en-US" dirty="0"/>
              <a:t>Monitoring systems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558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3E43-B7FA-4A19-F8EB-FE82B115B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and Data Collection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5C988-5097-0B1B-5F94-C3F6094A5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Types of Data Sources</a:t>
            </a:r>
          </a:p>
          <a:p>
            <a:pPr lvl="1"/>
            <a:r>
              <a:rPr lang="en-IN" b="1" dirty="0"/>
              <a:t>Structured Data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Databases (MySQL, PostgreSQL) </a:t>
            </a:r>
          </a:p>
          <a:p>
            <a:pPr lvl="2"/>
            <a:r>
              <a:rPr lang="en-IN" dirty="0"/>
              <a:t>Example: user table </a:t>
            </a:r>
          </a:p>
          <a:p>
            <a:pPr lvl="1"/>
            <a:r>
              <a:rPr lang="en-IN" b="1" dirty="0"/>
              <a:t>Semi-Structured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JSON, XML </a:t>
            </a:r>
          </a:p>
          <a:p>
            <a:pPr lvl="2"/>
            <a:r>
              <a:rPr lang="en-IN" dirty="0"/>
              <a:t>Example: API responses </a:t>
            </a:r>
          </a:p>
          <a:p>
            <a:pPr lvl="1"/>
            <a:r>
              <a:rPr lang="en-IN" b="1" dirty="0"/>
              <a:t>Unstructured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Logs, images, videos </a:t>
            </a:r>
          </a:p>
          <a:p>
            <a:pPr lvl="2"/>
            <a:r>
              <a:rPr lang="en-IN" dirty="0"/>
              <a:t>Example: application logs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74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052B-7B79-2A6A-461E-AF688AAF2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D2E9A-E98D-C059-B3FD-BE0FF28E1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1. Batch Ingestion</a:t>
            </a:r>
          </a:p>
          <a:p>
            <a:pPr lvl="1"/>
            <a:r>
              <a:rPr lang="en-US" sz="1500" dirty="0"/>
              <a:t>Data collected periodically (hourly/daily) </a:t>
            </a:r>
          </a:p>
          <a:p>
            <a:pPr lvl="1"/>
            <a:r>
              <a:rPr lang="en-US" sz="1500" dirty="0"/>
              <a:t>Tools: </a:t>
            </a:r>
          </a:p>
          <a:p>
            <a:pPr lvl="2"/>
            <a:r>
              <a:rPr lang="en-US" sz="1500" dirty="0"/>
              <a:t>Airflow </a:t>
            </a:r>
          </a:p>
          <a:p>
            <a:pPr lvl="2"/>
            <a:r>
              <a:rPr lang="en-US" sz="1500" dirty="0"/>
              <a:t>Cron jobs </a:t>
            </a:r>
          </a:p>
          <a:p>
            <a:pPr marL="457200" lvl="1" indent="0">
              <a:buNone/>
            </a:pPr>
            <a:r>
              <a:rPr lang="en-US" sz="1500" dirty="0"/>
              <a:t>Example:</a:t>
            </a:r>
          </a:p>
          <a:p>
            <a:pPr marL="457200" lvl="1" indent="0">
              <a:buNone/>
            </a:pPr>
            <a:r>
              <a:rPr lang="en-US" sz="1500" dirty="0"/>
              <a:t>	Daily sales data → Load into warehouse at midnight</a:t>
            </a:r>
          </a:p>
          <a:p>
            <a:pPr marL="0" indent="0">
              <a:buNone/>
            </a:pPr>
            <a:r>
              <a:rPr lang="en-IN" sz="1500" b="1" dirty="0"/>
              <a:t>2. Real-Time Ingestion (Streaming)</a:t>
            </a:r>
          </a:p>
          <a:p>
            <a:pPr lvl="1"/>
            <a:r>
              <a:rPr lang="en-IN" sz="1500" dirty="0"/>
              <a:t>Data collected instantly </a:t>
            </a:r>
          </a:p>
          <a:p>
            <a:pPr lvl="1"/>
            <a:r>
              <a:rPr lang="en-IN" sz="1500" dirty="0"/>
              <a:t>Tools: </a:t>
            </a:r>
          </a:p>
          <a:p>
            <a:pPr lvl="2"/>
            <a:r>
              <a:rPr lang="en-IN" sz="1500" dirty="0"/>
              <a:t>Kafka </a:t>
            </a:r>
          </a:p>
          <a:p>
            <a:pPr lvl="2"/>
            <a:r>
              <a:rPr lang="en-IN" sz="1500" dirty="0"/>
              <a:t>Kinesis </a:t>
            </a:r>
          </a:p>
          <a:p>
            <a:pPr marL="457200" lvl="1" indent="0">
              <a:buNone/>
            </a:pPr>
            <a:r>
              <a:rPr lang="en-IN" sz="1500" dirty="0"/>
              <a:t>Example:</a:t>
            </a:r>
          </a:p>
          <a:p>
            <a:pPr marL="914400" lvl="2" indent="0">
              <a:buNone/>
            </a:pPr>
            <a:r>
              <a:rPr lang="en-IN" sz="1500" dirty="0"/>
              <a:t>User clicks → sent instantly to pipeline → dashboard updates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861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D649-8A35-4581-9AE6-96245AF0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6441-A90E-2047-9B74-CC3C18F35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7A25C-928B-3101-56D7-044094C22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3. API-Based Collection</a:t>
            </a:r>
          </a:p>
          <a:p>
            <a:pPr lvl="1"/>
            <a:r>
              <a:rPr lang="en-US" sz="1600" dirty="0"/>
              <a:t>Pull data from external services </a:t>
            </a:r>
          </a:p>
          <a:p>
            <a:pPr marL="457200" lvl="1" indent="0">
              <a:buNone/>
            </a:pPr>
            <a:r>
              <a:rPr lang="en-US" sz="1600" dirty="0"/>
              <a:t>import requests</a:t>
            </a:r>
          </a:p>
          <a:p>
            <a:pPr marL="457200" lvl="1" indent="0">
              <a:buNone/>
            </a:pPr>
            <a:r>
              <a:rPr lang="en-US" sz="1600" dirty="0"/>
              <a:t>data = </a:t>
            </a:r>
            <a:r>
              <a:rPr lang="en-US" sz="1600" dirty="0" err="1"/>
              <a:t>requests.get</a:t>
            </a:r>
            <a:r>
              <a:rPr lang="en-US" sz="1600" dirty="0"/>
              <a:t>("https://api.example.com/users").</a:t>
            </a:r>
            <a:r>
              <a:rPr lang="en-US" sz="1600" dirty="0" err="1"/>
              <a:t>json</a:t>
            </a:r>
            <a:r>
              <a:rPr lang="en-US" sz="1600" dirty="0"/>
              <a:t>()</a:t>
            </a:r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4. Log-Based Collection</a:t>
            </a:r>
          </a:p>
          <a:p>
            <a:pPr lvl="2"/>
            <a:r>
              <a:rPr lang="en-US" sz="1600" dirty="0"/>
              <a:t>Applications generate logs → collected </a:t>
            </a:r>
          </a:p>
          <a:p>
            <a:pPr marL="457200" lvl="1" indent="0">
              <a:buNone/>
            </a:pPr>
            <a:r>
              <a:rPr lang="en-US" sz="1600" dirty="0"/>
              <a:t>Example tools:</a:t>
            </a:r>
          </a:p>
          <a:p>
            <a:pPr lvl="2"/>
            <a:r>
              <a:rPr lang="en-US" sz="1600" dirty="0" err="1"/>
              <a:t>Fluentd</a:t>
            </a:r>
            <a:r>
              <a:rPr lang="en-US" sz="1600" dirty="0"/>
              <a:t> </a:t>
            </a:r>
          </a:p>
          <a:p>
            <a:pPr lvl="2"/>
            <a:r>
              <a:rPr lang="en-US" sz="1600" dirty="0"/>
              <a:t>Logstash</a:t>
            </a:r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80656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94D1-737A-90A1-787C-61607C1C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Challenges &amp; Data Cleaning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E05B1-62AC-AF87-F1D6-D9629F5C9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39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Common Data Quality Issues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612677-CF12-DC91-C1D9-470834B83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193207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98297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08793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3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 =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811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Duplicate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user twice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54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Inconsistent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"USA" vs "United States"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55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Invalid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 = -5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263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Outliers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salary = 1,000,000 (error)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772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11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58C8-A7CD-12C9-B99B-B9FEEDE4A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EC91B-B65F-B43F-6150-016A88E19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dirty="0"/>
              <a:t>1. Handling Missing Values</a:t>
            </a:r>
          </a:p>
          <a:p>
            <a:pPr marL="0" indent="0">
              <a:buNone/>
            </a:pPr>
            <a:r>
              <a:rPr lang="en-IN" sz="1900" dirty="0" err="1"/>
              <a:t>df.fillna</a:t>
            </a:r>
            <a:r>
              <a:rPr lang="en-IN" sz="1900" dirty="0"/>
              <a:t>(0)</a:t>
            </a:r>
          </a:p>
          <a:p>
            <a:pPr marL="0" indent="0">
              <a:buNone/>
            </a:pPr>
            <a:r>
              <a:rPr lang="en-IN" sz="1900" dirty="0"/>
              <a:t>2. Removing Duplicates</a:t>
            </a:r>
          </a:p>
          <a:p>
            <a:pPr marL="0" indent="0">
              <a:buNone/>
            </a:pPr>
            <a:r>
              <a:rPr lang="en-IN" sz="1900" dirty="0" err="1"/>
              <a:t>df.drop_duplicates</a:t>
            </a:r>
            <a:r>
              <a:rPr lang="en-IN" sz="1900" dirty="0"/>
              <a:t>()</a:t>
            </a:r>
          </a:p>
          <a:p>
            <a:pPr marL="0" indent="0">
              <a:buNone/>
            </a:pPr>
            <a:r>
              <a:rPr lang="en-IN" sz="1900" dirty="0"/>
              <a:t>3. Standardization</a:t>
            </a:r>
          </a:p>
          <a:p>
            <a:pPr marL="0" indent="0">
              <a:buNone/>
            </a:pPr>
            <a:r>
              <a:rPr lang="en-US" sz="1900" dirty="0" err="1"/>
              <a:t>df</a:t>
            </a:r>
            <a:r>
              <a:rPr lang="en-US" sz="1900" dirty="0"/>
              <a:t>['country'] = </a:t>
            </a:r>
            <a:r>
              <a:rPr lang="en-US" sz="1900" dirty="0" err="1"/>
              <a:t>df</a:t>
            </a:r>
            <a:r>
              <a:rPr lang="en-US" sz="1900" dirty="0"/>
              <a:t>['country'].</a:t>
            </a:r>
            <a:r>
              <a:rPr lang="en-US" sz="1900" dirty="0" err="1"/>
              <a:t>str.upper</a:t>
            </a:r>
            <a:r>
              <a:rPr lang="en-US" sz="1900" dirty="0"/>
              <a:t>()</a:t>
            </a:r>
          </a:p>
          <a:p>
            <a:pPr marL="0" indent="0">
              <a:buNone/>
            </a:pPr>
            <a:r>
              <a:rPr lang="en-US" sz="1900" dirty="0"/>
              <a:t>4. Validation Rules</a:t>
            </a:r>
          </a:p>
          <a:p>
            <a:pPr lvl="1"/>
            <a:r>
              <a:rPr lang="en-US" sz="1900" dirty="0"/>
              <a:t>Age must be &gt; 0 </a:t>
            </a:r>
          </a:p>
          <a:p>
            <a:pPr lvl="1"/>
            <a:r>
              <a:rPr lang="en-US" sz="1900" dirty="0"/>
              <a:t>Email must match regex</a:t>
            </a:r>
          </a:p>
          <a:p>
            <a:pPr marL="0" indent="0">
              <a:buNone/>
            </a:pPr>
            <a:r>
              <a:rPr lang="en-US" sz="1900" dirty="0"/>
              <a:t>5. Advanced (Production Level)</a:t>
            </a:r>
          </a:p>
          <a:p>
            <a:pPr lvl="1"/>
            <a:r>
              <a:rPr lang="en-US" sz="1900" dirty="0"/>
              <a:t>Schema validation (</a:t>
            </a:r>
            <a:r>
              <a:rPr lang="en-US" sz="1900" dirty="0" err="1"/>
              <a:t>Pydantic</a:t>
            </a:r>
            <a:r>
              <a:rPr lang="en-US" sz="1900" dirty="0"/>
              <a:t>, Great Expectations) </a:t>
            </a:r>
          </a:p>
          <a:p>
            <a:pPr lvl="1"/>
            <a:r>
              <a:rPr lang="en-US" sz="1900" dirty="0"/>
              <a:t>Data contracts </a:t>
            </a:r>
          </a:p>
          <a:p>
            <a:pPr lvl="1"/>
            <a:r>
              <a:rPr lang="en-US" sz="1900" dirty="0"/>
              <a:t>Automated anomaly detection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9620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7A778-D5CB-F4DA-C78A-A2AF6DABC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Lakes vs Data Warehouses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E4318-F558-27AA-4D05-9C8DD2F2E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Data Lake</a:t>
            </a:r>
          </a:p>
          <a:p>
            <a:pPr marL="457200" lvl="1" indent="0">
              <a:buNone/>
            </a:pPr>
            <a:r>
              <a:rPr lang="en-IN" sz="1800" b="1" dirty="0"/>
              <a:t>Definition:</a:t>
            </a:r>
          </a:p>
          <a:p>
            <a:pPr lvl="2"/>
            <a:r>
              <a:rPr lang="en-IN" sz="1800" dirty="0"/>
              <a:t>Stores </a:t>
            </a:r>
            <a:r>
              <a:rPr lang="en-IN" sz="1800" b="1" dirty="0"/>
              <a:t>raw data</a:t>
            </a:r>
            <a:r>
              <a:rPr lang="en-IN" sz="1800" dirty="0"/>
              <a:t> in any format</a:t>
            </a:r>
          </a:p>
          <a:p>
            <a:pPr marL="457200" lvl="1" indent="0">
              <a:buNone/>
            </a:pPr>
            <a:r>
              <a:rPr lang="en-IN" sz="1800" b="1" dirty="0"/>
              <a:t>Tools:</a:t>
            </a:r>
          </a:p>
          <a:p>
            <a:pPr lvl="2"/>
            <a:r>
              <a:rPr lang="en-IN" sz="1800" dirty="0"/>
              <a:t>AWS S3 </a:t>
            </a:r>
          </a:p>
          <a:p>
            <a:pPr lvl="2"/>
            <a:r>
              <a:rPr lang="en-IN" sz="1800" dirty="0"/>
              <a:t>Azure Data Lake </a:t>
            </a:r>
          </a:p>
          <a:p>
            <a:pPr marL="457200" lvl="1" indent="0">
              <a:buNone/>
            </a:pPr>
            <a:r>
              <a:rPr lang="en-IN" sz="1800" b="1" dirty="0"/>
              <a:t>Characteristics:</a:t>
            </a:r>
          </a:p>
          <a:p>
            <a:pPr lvl="2"/>
            <a:r>
              <a:rPr lang="en-IN" sz="1800" dirty="0"/>
              <a:t>Schema-on-read </a:t>
            </a:r>
          </a:p>
          <a:p>
            <a:pPr lvl="2"/>
            <a:r>
              <a:rPr lang="en-IN" sz="1800" dirty="0"/>
              <a:t>Cheap storage </a:t>
            </a:r>
          </a:p>
          <a:p>
            <a:pPr lvl="2"/>
            <a:r>
              <a:rPr lang="en-IN" sz="1800" dirty="0"/>
              <a:t>Flexible</a:t>
            </a:r>
          </a:p>
          <a:p>
            <a:pPr marL="457200" lvl="1" indent="0">
              <a:buNone/>
            </a:pPr>
            <a:r>
              <a:rPr lang="en-IN" sz="1800" b="1" dirty="0"/>
              <a:t>Example:</a:t>
            </a:r>
          </a:p>
          <a:p>
            <a:pPr marL="457200" lvl="1" indent="0">
              <a:buNone/>
            </a:pPr>
            <a:r>
              <a:rPr lang="en-IN" sz="1800" dirty="0"/>
              <a:t>	Store logs, JSON, images directly</a:t>
            </a:r>
          </a:p>
        </p:txBody>
      </p:sp>
    </p:spTree>
    <p:extLst>
      <p:ext uri="{BB962C8B-B14F-4D97-AF65-F5344CB8AC3E}">
        <p14:creationId xmlns:p14="http://schemas.microsoft.com/office/powerpoint/2010/main" val="174005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22F6-6491-0379-1676-828064C5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D5B1-59AA-FE8A-7E33-19953EED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Lakes vs Data Warehouses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E736C-96FE-3629-8CC1-CDC1C69E7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Data Warehouse</a:t>
            </a:r>
          </a:p>
          <a:p>
            <a:pPr marL="0" indent="0">
              <a:buNone/>
            </a:pPr>
            <a:r>
              <a:rPr lang="en-IN" sz="1800" b="1" dirty="0"/>
              <a:t>Definition:</a:t>
            </a:r>
          </a:p>
          <a:p>
            <a:pPr lvl="1"/>
            <a:r>
              <a:rPr lang="en-IN" sz="1800" dirty="0"/>
              <a:t>Stores </a:t>
            </a:r>
            <a:r>
              <a:rPr lang="en-IN" sz="1800" b="1" dirty="0"/>
              <a:t>structured, cleaned data</a:t>
            </a: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Tools:</a:t>
            </a:r>
          </a:p>
          <a:p>
            <a:pPr lvl="1"/>
            <a:r>
              <a:rPr lang="en-IN" sz="1800" dirty="0"/>
              <a:t>Snowflake </a:t>
            </a:r>
          </a:p>
          <a:p>
            <a:pPr lvl="1"/>
            <a:r>
              <a:rPr lang="en-IN" sz="1800" dirty="0" err="1"/>
              <a:t>BigQuery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Redshift </a:t>
            </a:r>
          </a:p>
          <a:p>
            <a:pPr marL="0" indent="0">
              <a:buNone/>
            </a:pPr>
            <a:r>
              <a:rPr lang="en-IN" sz="1800" b="1" dirty="0"/>
              <a:t>Characteristics:</a:t>
            </a:r>
          </a:p>
          <a:p>
            <a:pPr lvl="1"/>
            <a:r>
              <a:rPr lang="en-IN" sz="1800" dirty="0"/>
              <a:t>Schema-on-write </a:t>
            </a:r>
          </a:p>
          <a:p>
            <a:pPr lvl="1"/>
            <a:r>
              <a:rPr lang="en-IN" sz="1800" dirty="0"/>
              <a:t>Optimized for analytics </a:t>
            </a:r>
          </a:p>
          <a:p>
            <a:pPr lvl="1"/>
            <a:r>
              <a:rPr lang="en-IN" sz="1800" dirty="0"/>
              <a:t>Fast queries 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08031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8BFA9-9EF3-EA25-31C4-5D29DF02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Differences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170C78-E7C2-2A20-0308-FF2AD9AAD8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6071199"/>
              </p:ext>
            </p:extLst>
          </p:nvPr>
        </p:nvGraphicFramePr>
        <p:xfrm>
          <a:off x="838200" y="1690688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770368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070917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031662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Lake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7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460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Flexible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82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607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ML, exploration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BI,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722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966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EFA6-579F-3389-2B48-DC5099E9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Lakehouse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6648-689D-95D8-20CC-CCD89A0EB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Modern Architecture (Lakehouse)</a:t>
            </a:r>
          </a:p>
          <a:p>
            <a:pPr marL="0" indent="0">
              <a:buNone/>
            </a:pPr>
            <a:r>
              <a:rPr lang="en-US" dirty="0"/>
              <a:t>Combination of both:</a:t>
            </a:r>
          </a:p>
          <a:p>
            <a:pPr lvl="1"/>
            <a:r>
              <a:rPr lang="en-US" dirty="0"/>
              <a:t>Delta Lake </a:t>
            </a:r>
          </a:p>
          <a:p>
            <a:pPr lvl="1"/>
            <a:r>
              <a:rPr lang="en-US" dirty="0"/>
              <a:t>Apache Iceberg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743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C3FD-6CB2-8D53-6EDA-5D455F2A5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 of Data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6E791-CC1C-C61F-3411-F6C3453F1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b="1" dirty="0"/>
              <a:t>Definition:</a:t>
            </a:r>
          </a:p>
          <a:p>
            <a:pPr lvl="1"/>
            <a:r>
              <a:rPr lang="en-US" sz="1300" dirty="0"/>
              <a:t>A data pipeline is a system that:</a:t>
            </a:r>
            <a:br>
              <a:rPr lang="en-US" sz="1300" dirty="0"/>
            </a:br>
            <a:r>
              <a:rPr lang="en-US" sz="1300" dirty="0"/>
              <a:t>	Moves data from source → destination and transforms it</a:t>
            </a:r>
          </a:p>
          <a:p>
            <a:pPr marL="0" indent="0">
              <a:buNone/>
            </a:pPr>
            <a:r>
              <a:rPr lang="en-IN" sz="1300" dirty="0"/>
              <a:t>Pipeline Stages</a:t>
            </a:r>
          </a:p>
          <a:p>
            <a:pPr marL="0" indent="0">
              <a:buNone/>
            </a:pPr>
            <a:r>
              <a:rPr lang="en-IN" sz="1300" dirty="0"/>
              <a:t>	[Ingestion] → [Processing] → [Storage] → [Serving]</a:t>
            </a:r>
          </a:p>
          <a:p>
            <a:pPr marL="0" indent="0">
              <a:buNone/>
            </a:pPr>
            <a:r>
              <a:rPr lang="en-IN" sz="1300" b="1" dirty="0"/>
              <a:t>Components</a:t>
            </a:r>
          </a:p>
          <a:p>
            <a:pPr marL="0" indent="0">
              <a:buNone/>
            </a:pPr>
            <a:r>
              <a:rPr lang="en-IN" sz="1300" dirty="0"/>
              <a:t>1.  Source</a:t>
            </a:r>
          </a:p>
          <a:p>
            <a:pPr lvl="1"/>
            <a:r>
              <a:rPr lang="en-IN" sz="1300" dirty="0"/>
              <a:t>DB, API, logs</a:t>
            </a:r>
          </a:p>
          <a:p>
            <a:pPr marL="0" indent="0">
              <a:buNone/>
            </a:pPr>
            <a:r>
              <a:rPr lang="en-IN" sz="1300" dirty="0"/>
              <a:t>2. Ingestion Layer</a:t>
            </a:r>
          </a:p>
          <a:p>
            <a:pPr lvl="1"/>
            <a:r>
              <a:rPr lang="en-IN" sz="1300" dirty="0"/>
              <a:t>Kafka, </a:t>
            </a:r>
            <a:r>
              <a:rPr lang="en-IN" sz="1300" dirty="0" err="1"/>
              <a:t>Airbyte</a:t>
            </a:r>
            <a:endParaRPr lang="en-IN" sz="1300" dirty="0"/>
          </a:p>
          <a:p>
            <a:pPr marL="0" indent="0">
              <a:buNone/>
            </a:pPr>
            <a:r>
              <a:rPr lang="en-IN" sz="1300" dirty="0"/>
              <a:t>3. Processing Layer</a:t>
            </a:r>
          </a:p>
          <a:p>
            <a:pPr lvl="1"/>
            <a:r>
              <a:rPr lang="en-IN" sz="1300" dirty="0"/>
              <a:t>Spark, Flink</a:t>
            </a:r>
          </a:p>
          <a:p>
            <a:pPr marL="0" indent="0">
              <a:buNone/>
            </a:pPr>
            <a:r>
              <a:rPr lang="en-IN" sz="1300" dirty="0"/>
              <a:t>4. Storage</a:t>
            </a:r>
          </a:p>
          <a:p>
            <a:pPr lvl="1"/>
            <a:r>
              <a:rPr lang="en-IN" sz="1300" dirty="0"/>
              <a:t>Data Lake / Warehouse</a:t>
            </a:r>
          </a:p>
          <a:p>
            <a:pPr marL="0" indent="0">
              <a:buNone/>
            </a:pPr>
            <a:r>
              <a:rPr lang="en-IN" sz="1300" dirty="0"/>
              <a:t>5. Orchestration</a:t>
            </a:r>
          </a:p>
          <a:p>
            <a:pPr lvl="1"/>
            <a:r>
              <a:rPr lang="en-IN" sz="1300" dirty="0"/>
              <a:t>Airflow</a:t>
            </a:r>
          </a:p>
          <a:p>
            <a:pPr marL="0" indent="0">
              <a:buNone/>
            </a:pPr>
            <a:r>
              <a:rPr lang="en-IN" sz="1300" dirty="0"/>
              <a:t>6. Serving Layer</a:t>
            </a:r>
          </a:p>
          <a:p>
            <a:pPr lvl="1"/>
            <a:r>
              <a:rPr lang="en-IN" sz="1300" dirty="0"/>
              <a:t>BI tools, APIs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15E99-A0F5-D715-D28A-CCD92CDBAC74}"/>
              </a:ext>
            </a:extLst>
          </p:cNvPr>
          <p:cNvSpPr txBox="1"/>
          <p:nvPr/>
        </p:nvSpPr>
        <p:spPr>
          <a:xfrm>
            <a:off x="4574358" y="3429000"/>
            <a:ext cx="6370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 Pipeline:                                                                     		MySQL → Kafka → Spark → S3 → Snowflake → Tableau</a:t>
            </a:r>
          </a:p>
        </p:txBody>
      </p:sp>
    </p:spTree>
    <p:extLst>
      <p:ext uri="{BB962C8B-B14F-4D97-AF65-F5344CB8AC3E}">
        <p14:creationId xmlns:p14="http://schemas.microsoft.com/office/powerpoint/2010/main" val="1715148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5FA-017B-63F0-7F5D-09129974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vs Batch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EA0C-5C73-8452-62AE-C898EBA40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Batch Processing</a:t>
            </a:r>
          </a:p>
          <a:p>
            <a:pPr marL="457200" lvl="1" indent="0">
              <a:buNone/>
            </a:pPr>
            <a:r>
              <a:rPr lang="en-US" b="1" dirty="0"/>
              <a:t>Definition:</a:t>
            </a:r>
          </a:p>
          <a:p>
            <a:pPr lvl="2"/>
            <a:r>
              <a:rPr lang="en-US" dirty="0"/>
              <a:t>Process data in chunks</a:t>
            </a:r>
          </a:p>
          <a:p>
            <a:pPr marL="457200" lvl="1" indent="0">
              <a:buNone/>
            </a:pPr>
            <a:r>
              <a:rPr lang="en-US" b="1" dirty="0"/>
              <a:t>Tools:</a:t>
            </a:r>
          </a:p>
          <a:p>
            <a:pPr lvl="2"/>
            <a:r>
              <a:rPr lang="en-US" dirty="0"/>
              <a:t>Apache Spark </a:t>
            </a:r>
          </a:p>
          <a:p>
            <a:pPr lvl="2"/>
            <a:r>
              <a:rPr lang="en-US" dirty="0"/>
              <a:t>Hadoop </a:t>
            </a:r>
          </a:p>
          <a:p>
            <a:pPr marL="457200" lvl="1" indent="0">
              <a:buNone/>
            </a:pPr>
            <a:r>
              <a:rPr lang="en-US" b="1" dirty="0"/>
              <a:t>Pros:</a:t>
            </a:r>
          </a:p>
          <a:p>
            <a:pPr lvl="2"/>
            <a:r>
              <a:rPr lang="en-US" dirty="0"/>
              <a:t>Cost efficient </a:t>
            </a:r>
          </a:p>
          <a:p>
            <a:pPr lvl="2"/>
            <a:r>
              <a:rPr lang="en-US" dirty="0"/>
              <a:t>Easy to manage </a:t>
            </a:r>
          </a:p>
          <a:p>
            <a:pPr marL="457200" lvl="1" indent="0">
              <a:buNone/>
            </a:pPr>
            <a:r>
              <a:rPr lang="en-US" b="1" dirty="0"/>
              <a:t>Cons:</a:t>
            </a:r>
          </a:p>
          <a:p>
            <a:pPr lvl="2"/>
            <a:r>
              <a:rPr lang="en-US" dirty="0"/>
              <a:t>Not real-time </a:t>
            </a:r>
          </a:p>
          <a:p>
            <a:pPr marL="457200" lvl="1" indent="0">
              <a:buNone/>
            </a:pPr>
            <a:r>
              <a:rPr lang="en-US" dirty="0"/>
              <a:t>Example:</a:t>
            </a:r>
          </a:p>
          <a:p>
            <a:pPr lvl="2"/>
            <a:r>
              <a:rPr lang="en-US" dirty="0"/>
              <a:t>Daily sales report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7360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D670-0E93-49A1-C2B5-47D08472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vs Batch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4D81C-9C58-4EF9-4643-77D770730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Real-Time Processing</a:t>
            </a:r>
          </a:p>
          <a:p>
            <a:pPr marL="457200" lvl="1" indent="0">
              <a:buNone/>
            </a:pPr>
            <a:r>
              <a:rPr lang="en-IN" b="1" dirty="0"/>
              <a:t>Definition:</a:t>
            </a:r>
          </a:p>
          <a:p>
            <a:pPr lvl="2"/>
            <a:r>
              <a:rPr lang="en-IN" dirty="0"/>
              <a:t>Process data instantly</a:t>
            </a:r>
          </a:p>
          <a:p>
            <a:pPr marL="457200" lvl="1" indent="0">
              <a:buNone/>
            </a:pPr>
            <a:r>
              <a:rPr lang="en-IN" b="1" dirty="0"/>
              <a:t>Tools:</a:t>
            </a:r>
          </a:p>
          <a:p>
            <a:pPr lvl="2"/>
            <a:r>
              <a:rPr lang="en-IN" dirty="0"/>
              <a:t>Kafka </a:t>
            </a:r>
          </a:p>
          <a:p>
            <a:pPr lvl="2"/>
            <a:r>
              <a:rPr lang="en-IN" dirty="0"/>
              <a:t>Apache Flink </a:t>
            </a:r>
          </a:p>
          <a:p>
            <a:pPr marL="457200" lvl="1" indent="0">
              <a:buNone/>
            </a:pPr>
            <a:r>
              <a:rPr lang="en-IN" b="1" dirty="0"/>
              <a:t>Pros:</a:t>
            </a:r>
          </a:p>
          <a:p>
            <a:pPr lvl="2"/>
            <a:r>
              <a:rPr lang="en-IN" dirty="0"/>
              <a:t>Immediate insights </a:t>
            </a:r>
          </a:p>
          <a:p>
            <a:pPr lvl="2"/>
            <a:r>
              <a:rPr lang="en-IN" dirty="0"/>
              <a:t>Better user experience </a:t>
            </a:r>
          </a:p>
          <a:p>
            <a:pPr marL="457200" lvl="1" indent="0">
              <a:buNone/>
            </a:pPr>
            <a:r>
              <a:rPr lang="en-IN" b="1" dirty="0"/>
              <a:t>Cons:</a:t>
            </a:r>
          </a:p>
          <a:p>
            <a:pPr lvl="2"/>
            <a:r>
              <a:rPr lang="en-IN" dirty="0"/>
              <a:t>Complex </a:t>
            </a:r>
          </a:p>
          <a:p>
            <a:pPr lvl="2"/>
            <a:r>
              <a:rPr lang="en-IN" dirty="0"/>
              <a:t>Expensive </a:t>
            </a:r>
          </a:p>
          <a:p>
            <a:pPr marL="457200" lvl="1" indent="0">
              <a:buNone/>
            </a:pPr>
            <a:r>
              <a:rPr lang="en-IN" dirty="0"/>
              <a:t>Example:</a:t>
            </a:r>
          </a:p>
          <a:p>
            <a:pPr lvl="2"/>
            <a:r>
              <a:rPr lang="en-IN" dirty="0"/>
              <a:t>Fraud detection in banking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618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5FA4-285E-5435-9A15-D612A4F8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vs Batch Processing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D9E4A2-EC85-1654-78EC-7DF90680EE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4435876"/>
              </p:ext>
            </p:extLst>
          </p:nvPr>
        </p:nvGraphicFramePr>
        <p:xfrm>
          <a:off x="1026736" y="1965960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621711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740636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36632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Real-Time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6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693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87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48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840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C1BB-E495-2D1F-56B2-A9FBB2CE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61EE5-42AC-BF4E-C2AF-D9DD54381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048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AEFB-69B6-6539-E1D5-619C634AE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FA62-C87C-50A1-FDDD-DA453767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Pipeline Architecture?</a:t>
            </a:r>
            <a:endParaRPr lang="en-IN" dirty="0"/>
          </a:p>
        </p:txBody>
      </p:sp>
      <p:pic>
        <p:nvPicPr>
          <p:cNvPr id="7170" name="Picture 2" descr="What Data Pipeline Architecture should I use? | Google Cloud Blog">
            <a:extLst>
              <a:ext uri="{FF2B5EF4-FFF2-40B4-BE49-F238E27FC236}">
                <a16:creationId xmlns:a16="http://schemas.microsoft.com/office/drawing/2014/main" id="{5F9FD758-061B-D27E-64BE-FE6E2A3F40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621" y="1825625"/>
            <a:ext cx="815875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3830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5F5FD-6AAD-C33B-B2A3-FA0F6298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Pipeline Architecture?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28A1B-6A20-B521-7AE1-44F4C6060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data pipeline</a:t>
            </a:r>
            <a:r>
              <a:rPr lang="en-US" dirty="0"/>
              <a:t> is a system that moves data from </a:t>
            </a:r>
            <a:r>
              <a:rPr lang="en-US" b="1" dirty="0"/>
              <a:t>source → processing → storage → consumption</a:t>
            </a:r>
            <a:r>
              <a:rPr lang="en-US" dirty="0"/>
              <a:t>.</a:t>
            </a:r>
          </a:p>
          <a:p>
            <a:r>
              <a:rPr lang="en-US" b="1" dirty="0"/>
              <a:t>Core Goal:</a:t>
            </a:r>
          </a:p>
          <a:p>
            <a:pPr lvl="1"/>
            <a:r>
              <a:rPr lang="en-US" dirty="0"/>
              <a:t>Move data </a:t>
            </a:r>
            <a:r>
              <a:rPr lang="en-US" b="1" dirty="0"/>
              <a:t>reliably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Transform it into </a:t>
            </a:r>
            <a:r>
              <a:rPr lang="en-US" b="1" dirty="0"/>
              <a:t>usable format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Deliver it </a:t>
            </a:r>
            <a:r>
              <a:rPr lang="en-US" b="1" dirty="0"/>
              <a:t>on time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918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B581-4FDA-533E-0291-FA3DD4B8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Layers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A4827-5CAD-0D31-9C23-3DB2F4CA6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lphaUcPeriod"/>
            </a:pPr>
            <a:r>
              <a:rPr lang="en-IN" b="1" dirty="0"/>
              <a:t>Data Sources</a:t>
            </a:r>
          </a:p>
          <a:p>
            <a:pPr marL="0" indent="0">
              <a:buNone/>
            </a:pPr>
            <a:r>
              <a:rPr lang="en-IN" b="1" dirty="0"/>
              <a:t>Types:</a:t>
            </a:r>
          </a:p>
          <a:p>
            <a:pPr lvl="1"/>
            <a:r>
              <a:rPr lang="en-IN" b="1" dirty="0"/>
              <a:t>Structured</a:t>
            </a:r>
            <a:r>
              <a:rPr lang="en-IN" dirty="0"/>
              <a:t> → Databases (MySQL, PostgreSQL) </a:t>
            </a:r>
          </a:p>
          <a:p>
            <a:pPr lvl="1"/>
            <a:r>
              <a:rPr lang="en-IN" b="1" dirty="0"/>
              <a:t>Semi-structured</a:t>
            </a:r>
            <a:r>
              <a:rPr lang="en-IN" dirty="0"/>
              <a:t> → JSON, XML, logs </a:t>
            </a:r>
          </a:p>
          <a:p>
            <a:pPr lvl="1"/>
            <a:r>
              <a:rPr lang="en-IN" b="1" dirty="0"/>
              <a:t>Unstructured</a:t>
            </a:r>
            <a:r>
              <a:rPr lang="en-IN" dirty="0"/>
              <a:t> → Images, videos, text </a:t>
            </a:r>
          </a:p>
          <a:p>
            <a:pPr lvl="1"/>
            <a:r>
              <a:rPr lang="en-IN" b="1" dirty="0"/>
              <a:t>Streaming</a:t>
            </a:r>
            <a:r>
              <a:rPr lang="en-IN" dirty="0"/>
              <a:t> → IoT sensors, clickstreams </a:t>
            </a:r>
          </a:p>
          <a:p>
            <a:pPr marL="0" indent="0">
              <a:buNone/>
            </a:pPr>
            <a:r>
              <a:rPr lang="en-IN" b="1" dirty="0"/>
              <a:t>Real Example:</a:t>
            </a:r>
          </a:p>
          <a:p>
            <a:r>
              <a:rPr lang="en-IN" dirty="0"/>
              <a:t>E-commerce app: </a:t>
            </a:r>
          </a:p>
          <a:p>
            <a:pPr lvl="1"/>
            <a:r>
              <a:rPr lang="en-IN" dirty="0"/>
              <a:t>Orders DB </a:t>
            </a:r>
          </a:p>
          <a:p>
            <a:pPr lvl="1"/>
            <a:r>
              <a:rPr lang="en-IN" dirty="0"/>
              <a:t>User activity logs </a:t>
            </a:r>
          </a:p>
          <a:p>
            <a:pPr lvl="1"/>
            <a:r>
              <a:rPr lang="en-IN" dirty="0"/>
              <a:t>Payment API </a:t>
            </a:r>
          </a:p>
          <a:p>
            <a:pPr lvl="1"/>
            <a:r>
              <a:rPr lang="en-IN" dirty="0"/>
              <a:t>Recommendation events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196" name="Picture 4" descr="Structured vs Unstructured Data Explained with Examples">
            <a:extLst>
              <a:ext uri="{FF2B5EF4-FFF2-40B4-BE49-F238E27FC236}">
                <a16:creationId xmlns:a16="http://schemas.microsoft.com/office/drawing/2014/main" id="{3D0D9C5F-8D73-EA29-D69F-0A64848A9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268" y="844261"/>
            <a:ext cx="5161732" cy="5438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347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469C-726A-ED1F-0AE5-E7E73BD2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Layers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A9526-0F26-B29B-0333-4076F30D8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B. Data Ingestion Layer</a:t>
            </a:r>
          </a:p>
          <a:p>
            <a:pPr marL="0" indent="0">
              <a:buNone/>
            </a:pPr>
            <a:r>
              <a:rPr lang="en-US"/>
              <a:t>This layer </a:t>
            </a:r>
            <a:r>
              <a:rPr lang="en-US" b="1"/>
              <a:t>collects data from sources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/>
              <a:t>Types: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117D65-D9B0-B0A5-5157-F39B8F4F7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596739"/>
              </p:ext>
            </p:extLst>
          </p:nvPr>
        </p:nvGraphicFramePr>
        <p:xfrm>
          <a:off x="838200" y="3349605"/>
          <a:ext cx="6778659" cy="1680270"/>
        </p:xfrm>
        <a:graphic>
          <a:graphicData uri="http://schemas.openxmlformats.org/drawingml/2006/table">
            <a:tbl>
              <a:tblPr/>
              <a:tblGrid>
                <a:gridCol w="2259553">
                  <a:extLst>
                    <a:ext uri="{9D8B030D-6E8A-4147-A177-3AD203B41FA5}">
                      <a16:colId xmlns:a16="http://schemas.microsoft.com/office/drawing/2014/main" val="3956098914"/>
                    </a:ext>
                  </a:extLst>
                </a:gridCol>
                <a:gridCol w="2259553">
                  <a:extLst>
                    <a:ext uri="{9D8B030D-6E8A-4147-A177-3AD203B41FA5}">
                      <a16:colId xmlns:a16="http://schemas.microsoft.com/office/drawing/2014/main" val="2571272276"/>
                    </a:ext>
                  </a:extLst>
                </a:gridCol>
                <a:gridCol w="2259553">
                  <a:extLst>
                    <a:ext uri="{9D8B030D-6E8A-4147-A177-3AD203B41FA5}">
                      <a16:colId xmlns:a16="http://schemas.microsoft.com/office/drawing/2014/main" val="3158750338"/>
                    </a:ext>
                  </a:extLst>
                </a:gridCol>
              </a:tblGrid>
              <a:tr h="40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819604"/>
                  </a:ext>
                </a:extLst>
              </a:tr>
              <a:tr h="40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Batch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Periodic loads (hourly/daily)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Airflow, Cron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064421"/>
                  </a:ext>
                </a:extLst>
              </a:tr>
              <a:tr h="40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Streaming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continuous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Kafka, Kinesis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2544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7A056B-6F2B-A56E-126E-BEC4D4BA3718}"/>
              </a:ext>
            </a:extLst>
          </p:cNvPr>
          <p:cNvSpPr txBox="1"/>
          <p:nvPr/>
        </p:nvSpPr>
        <p:spPr>
          <a:xfrm>
            <a:off x="838200" y="4763284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Responsibilities: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extraction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Format standardization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failures &amp; retries</a:t>
            </a:r>
          </a:p>
        </p:txBody>
      </p:sp>
      <p:pic>
        <p:nvPicPr>
          <p:cNvPr id="9218" name="Picture 2" descr="Building a Real-Time and Batch Data Pipeline with Apache Spark, Kafka,  Airflow, PostgreSQL, and Elasticsearch — End-to-End in Docker | by Ridhic  Toms Rijo | Medium">
            <a:extLst>
              <a:ext uri="{FF2B5EF4-FFF2-40B4-BE49-F238E27FC236}">
                <a16:creationId xmlns:a16="http://schemas.microsoft.com/office/drawing/2014/main" id="{2F6726AF-276C-FDDE-7B80-C8415F210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163" y="945027"/>
            <a:ext cx="4037814" cy="536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810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DDBD-9BCD-EB24-4D79-40950E0C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Layers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C91F-37FF-71C8-B739-04EE1E7F3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C. Transformation Layer</a:t>
            </a:r>
          </a:p>
          <a:p>
            <a:pPr marL="0" indent="0">
              <a:buNone/>
            </a:pPr>
            <a:r>
              <a:rPr lang="en-US" dirty="0"/>
              <a:t>This is where </a:t>
            </a:r>
            <a:r>
              <a:rPr lang="en-US" b="1" dirty="0"/>
              <a:t>raw data becomes useful data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Operations:</a:t>
            </a:r>
          </a:p>
          <a:p>
            <a:pPr lvl="1"/>
            <a:r>
              <a:rPr lang="en-US" dirty="0"/>
              <a:t>Cleaning (remove nulls, duplicates) </a:t>
            </a:r>
          </a:p>
          <a:p>
            <a:pPr lvl="1"/>
            <a:r>
              <a:rPr lang="en-US" dirty="0"/>
              <a:t>Filtering </a:t>
            </a:r>
          </a:p>
          <a:p>
            <a:pPr lvl="1"/>
            <a:r>
              <a:rPr lang="en-US" dirty="0"/>
              <a:t>Joining datasets </a:t>
            </a:r>
          </a:p>
          <a:p>
            <a:pPr lvl="1"/>
            <a:r>
              <a:rPr lang="en-US" dirty="0"/>
              <a:t>Aggregation </a:t>
            </a:r>
          </a:p>
          <a:p>
            <a:pPr lvl="1"/>
            <a:r>
              <a:rPr lang="en-US" dirty="0"/>
              <a:t>Enrichment (adding external data) 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IN" dirty="0"/>
              <a:t>	Raw Orders → Remove duplicates → Join with Users → Calculate revenue → Final dataset</a:t>
            </a:r>
          </a:p>
          <a:p>
            <a:pPr marL="0" indent="0">
              <a:buNone/>
            </a:pPr>
            <a:r>
              <a:rPr lang="en-US" b="1" dirty="0"/>
              <a:t>Tools:</a:t>
            </a:r>
          </a:p>
          <a:p>
            <a:pPr lvl="1"/>
            <a:r>
              <a:rPr lang="en-US" dirty="0"/>
              <a:t>Python (Pandas) </a:t>
            </a:r>
          </a:p>
          <a:p>
            <a:pPr lvl="1"/>
            <a:r>
              <a:rPr lang="en-US" dirty="0"/>
              <a:t>Spark (big data) </a:t>
            </a:r>
          </a:p>
          <a:p>
            <a:pPr lvl="1"/>
            <a:r>
              <a:rPr lang="en-US" dirty="0" err="1"/>
              <a:t>dbt</a:t>
            </a:r>
            <a:r>
              <a:rPr lang="en-US" dirty="0"/>
              <a:t> (SQL-based transformation)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967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80A2-A40D-1640-899E-0046AC50B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Layers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58207-68C7-B50D-86E0-315DC90F3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D. Storage Layer</a:t>
            </a:r>
          </a:p>
          <a:p>
            <a:pPr marL="0" indent="0">
              <a:buNone/>
            </a:pPr>
            <a:r>
              <a:rPr lang="en-US" dirty="0"/>
              <a:t>Where processed data is stored.</a:t>
            </a:r>
          </a:p>
          <a:p>
            <a:pPr marL="0" indent="0">
              <a:buNone/>
            </a:pPr>
            <a:r>
              <a:rPr lang="en-US" dirty="0"/>
              <a:t>Types: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33E11E-4519-CB69-18ED-530133234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979290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3444652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50304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041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Lake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Raw + large-scale storage (S3, HDFS)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02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Warehouse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analytics (Snowflake, BigQuery)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900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Lakehouse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Hybrid (Delta Lake, Iceberg)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2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319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EFDD-CA50-1325-EE5E-E392119D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9CB6-FB66-B892-0363-8AC87A80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Layers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B964E-A650-5251-1418-358591D13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E. Consumption Layer</a:t>
            </a:r>
          </a:p>
          <a:p>
            <a:pPr lvl="1"/>
            <a:r>
              <a:rPr lang="en-US" dirty="0"/>
              <a:t>BI Tools → Tableau, Power BI </a:t>
            </a:r>
          </a:p>
          <a:p>
            <a:pPr lvl="1"/>
            <a:r>
              <a:rPr lang="en-US" dirty="0"/>
              <a:t>ML Models → Predictions </a:t>
            </a:r>
          </a:p>
          <a:p>
            <a:pPr lvl="1"/>
            <a:r>
              <a:rPr lang="en-US" dirty="0"/>
              <a:t>APIs → Data services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136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8252-38CB-7784-65B5-292B26AB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Stack</a:t>
            </a:r>
          </a:p>
        </p:txBody>
      </p:sp>
      <p:pic>
        <p:nvPicPr>
          <p:cNvPr id="12290" name="Picture 2" descr="Modern Data Stack Explained">
            <a:extLst>
              <a:ext uri="{FF2B5EF4-FFF2-40B4-BE49-F238E27FC236}">
                <a16:creationId xmlns:a16="http://schemas.microsoft.com/office/drawing/2014/main" id="{122276B7-9AA5-13CF-2A4F-0D351F29D5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924" y="1825625"/>
            <a:ext cx="9521072" cy="494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182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2722-429D-E2EA-B112-91E5A31B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ETL Fits into Data Pipelines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04D6E-AE27-9E40-FD9F-C492FA33D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ETL = Extract → Transform → Load</a:t>
            </a:r>
          </a:p>
          <a:p>
            <a:pPr lvl="1"/>
            <a:r>
              <a:rPr lang="en-IN" dirty="0"/>
              <a:t>Data is transformed </a:t>
            </a:r>
            <a:r>
              <a:rPr lang="en-IN" b="1" dirty="0"/>
              <a:t>before loading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Used in traditional systems </a:t>
            </a:r>
          </a:p>
          <a:p>
            <a:pPr marL="0" indent="0">
              <a:buNone/>
            </a:pPr>
            <a:r>
              <a:rPr lang="en-IN" b="1" dirty="0"/>
              <a:t> ELT = Extract → Load → Transform</a:t>
            </a:r>
          </a:p>
          <a:p>
            <a:pPr lvl="1"/>
            <a:r>
              <a:rPr lang="en-IN" dirty="0"/>
              <a:t>Data is loaded first, then transformed </a:t>
            </a:r>
          </a:p>
          <a:p>
            <a:pPr lvl="1"/>
            <a:r>
              <a:rPr lang="en-IN" dirty="0"/>
              <a:t>Used in modern cloud systems</a:t>
            </a:r>
          </a:p>
          <a:p>
            <a:pPr marL="0" indent="0">
              <a:buNone/>
            </a:pPr>
            <a:r>
              <a:rPr lang="en-IN" b="1" dirty="0"/>
              <a:t>Key Insight: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524E5-6BAA-230F-2DBB-39AA0756B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202" y="1414377"/>
            <a:ext cx="4836598" cy="373737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C2E0D5-83D9-9315-30B5-CA5043873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398220"/>
              </p:ext>
            </p:extLst>
          </p:nvPr>
        </p:nvGraphicFramePr>
        <p:xfrm>
          <a:off x="734505" y="5183983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014728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18148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When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32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ETL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Legacy systems, strict 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281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ELT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Big data, cloud (Snowflake, </a:t>
                      </a:r>
                      <a:r>
                        <a:rPr lang="en-US" dirty="0" err="1"/>
                        <a:t>BigQuery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755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493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A132-88B4-F517-5919-E33DB207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Ingress &amp; Egress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F286C-AC9F-08A9-B91A-0A3BF5571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Data Ingress (Incoming Data)</a:t>
            </a:r>
          </a:p>
          <a:p>
            <a:pPr marL="0" indent="0">
              <a:buNone/>
            </a:pPr>
            <a:r>
              <a:rPr lang="en-IN" b="1" dirty="0"/>
              <a:t>Meaning:</a:t>
            </a:r>
          </a:p>
          <a:p>
            <a:pPr lvl="1"/>
            <a:r>
              <a:rPr lang="en-IN" dirty="0"/>
              <a:t>Data entering your system</a:t>
            </a:r>
          </a:p>
          <a:p>
            <a:pPr marL="0" indent="0">
              <a:buNone/>
            </a:pPr>
            <a:r>
              <a:rPr lang="en-IN" b="1" dirty="0"/>
              <a:t>Examples:</a:t>
            </a:r>
          </a:p>
          <a:p>
            <a:pPr lvl="1"/>
            <a:r>
              <a:rPr lang="en-IN" dirty="0"/>
              <a:t>API calls </a:t>
            </a:r>
          </a:p>
          <a:p>
            <a:pPr lvl="1"/>
            <a:r>
              <a:rPr lang="en-IN" dirty="0"/>
              <a:t>Kafka streams </a:t>
            </a:r>
          </a:p>
          <a:p>
            <a:pPr lvl="1"/>
            <a:r>
              <a:rPr lang="en-IN" dirty="0"/>
              <a:t>File uploads (CSV, JSON) </a:t>
            </a:r>
          </a:p>
          <a:p>
            <a:pPr lvl="1"/>
            <a:r>
              <a:rPr lang="en-IN" dirty="0"/>
              <a:t>Database replication (CDC)</a:t>
            </a:r>
          </a:p>
          <a:p>
            <a:pPr marL="0" indent="0">
              <a:buNone/>
            </a:pPr>
            <a:r>
              <a:rPr lang="en-IN" dirty="0"/>
              <a:t>Data Egress (Outgoing Data)</a:t>
            </a:r>
          </a:p>
          <a:p>
            <a:pPr marL="0" indent="0">
              <a:buNone/>
            </a:pPr>
            <a:r>
              <a:rPr lang="en-US" b="1" dirty="0"/>
              <a:t>Meaning:</a:t>
            </a:r>
          </a:p>
          <a:p>
            <a:pPr lvl="1"/>
            <a:r>
              <a:rPr lang="en-US" dirty="0"/>
              <a:t>Data leaving your system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pPr lvl="1"/>
            <a:r>
              <a:rPr lang="en-US" dirty="0"/>
              <a:t>Dashboards </a:t>
            </a:r>
          </a:p>
          <a:p>
            <a:pPr lvl="1"/>
            <a:r>
              <a:rPr lang="en-US" dirty="0"/>
              <a:t>ML predictions </a:t>
            </a:r>
          </a:p>
          <a:p>
            <a:pPr lvl="1"/>
            <a:r>
              <a:rPr lang="en-US" dirty="0"/>
              <a:t>Data exports </a:t>
            </a:r>
          </a:p>
          <a:p>
            <a:pPr lvl="1"/>
            <a:r>
              <a:rPr lang="en-US" dirty="0"/>
              <a:t>External APIs</a:t>
            </a:r>
          </a:p>
          <a:p>
            <a:pPr marL="0" indent="0">
              <a:buNone/>
            </a:pPr>
            <a:r>
              <a:rPr lang="en-IN" dirty="0"/>
              <a:t>Note : </a:t>
            </a:r>
            <a:r>
              <a:rPr lang="en-US" dirty="0"/>
              <a:t>Cloud providers may charge for </a:t>
            </a:r>
            <a:r>
              <a:rPr lang="en-US" b="1" dirty="0"/>
              <a:t>egress (outbound data)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05F2B-8D7F-190C-7554-6CC5AB36F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30" y="1690687"/>
            <a:ext cx="7405883" cy="386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236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B6E2-93C8-099A-412C-B614CCF2F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 Orchestration &amp;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396D5-9498-80B1-0C4C-25BBEE2CE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This is the </a:t>
            </a:r>
            <a:r>
              <a:rPr lang="en-US" b="1" dirty="0"/>
              <a:t>brain of your pipeline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What is Orchestration?</a:t>
            </a:r>
          </a:p>
          <a:p>
            <a:pPr marL="0" indent="0">
              <a:buNone/>
            </a:pPr>
            <a:r>
              <a:rPr lang="en-US" dirty="0"/>
              <a:t>Managing:</a:t>
            </a:r>
          </a:p>
          <a:p>
            <a:pPr lvl="1"/>
            <a:r>
              <a:rPr lang="en-US" dirty="0"/>
              <a:t>Task execution </a:t>
            </a:r>
          </a:p>
          <a:p>
            <a:pPr lvl="1"/>
            <a:r>
              <a:rPr lang="en-US" dirty="0"/>
              <a:t>Dependencies </a:t>
            </a:r>
          </a:p>
          <a:p>
            <a:pPr lvl="1"/>
            <a:r>
              <a:rPr lang="en-US" dirty="0"/>
              <a:t>Failures </a:t>
            </a:r>
          </a:p>
          <a:p>
            <a:pPr lvl="1"/>
            <a:r>
              <a:rPr lang="en-US" dirty="0"/>
              <a:t>Retries</a:t>
            </a:r>
          </a:p>
          <a:p>
            <a:pPr marL="0" indent="0">
              <a:buNone/>
            </a:pPr>
            <a:r>
              <a:rPr lang="en-US" b="1" dirty="0"/>
              <a:t>Example Workflow:</a:t>
            </a:r>
          </a:p>
          <a:p>
            <a:pPr marL="457200" lvl="1" indent="0">
              <a:buNone/>
            </a:pPr>
            <a:r>
              <a:rPr lang="en-US" dirty="0"/>
              <a:t>Step 1: Extract data</a:t>
            </a:r>
            <a:br>
              <a:rPr lang="en-US" dirty="0"/>
            </a:br>
            <a:r>
              <a:rPr lang="en-US" dirty="0"/>
              <a:t>Step 2: Clean data</a:t>
            </a:r>
            <a:br>
              <a:rPr lang="en-US" dirty="0"/>
            </a:br>
            <a:r>
              <a:rPr lang="en-US" dirty="0"/>
              <a:t>Step 3: Transform</a:t>
            </a:r>
            <a:br>
              <a:rPr lang="en-US" dirty="0"/>
            </a:br>
            <a:r>
              <a:rPr lang="en-US" dirty="0"/>
              <a:t>Step 4: Load to warehouse</a:t>
            </a:r>
            <a:br>
              <a:rPr lang="en-US" dirty="0"/>
            </a:br>
            <a:r>
              <a:rPr lang="en-US" dirty="0"/>
              <a:t>Step 5: Notify/report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Popular Tools:</a:t>
            </a:r>
          </a:p>
          <a:p>
            <a:pPr lvl="1"/>
            <a:r>
              <a:rPr lang="en-US" dirty="0"/>
              <a:t>Apache Airflow </a:t>
            </a:r>
          </a:p>
          <a:p>
            <a:pPr lvl="1"/>
            <a:r>
              <a:rPr lang="en-US" dirty="0"/>
              <a:t>Prefect </a:t>
            </a:r>
          </a:p>
          <a:p>
            <a:pPr lvl="1"/>
            <a:r>
              <a:rPr lang="en-US" dirty="0" err="1"/>
              <a:t>Dagster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447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E1AC-CBA3-B889-9CA0-1E43BD49D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BF20-E664-8DE1-97EA-7B4D58D1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 Orchestration &amp;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D0CF-0961-E26C-FA28-A804412D8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Scheduling: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BE817F-B7D5-AAAA-4EAD-1151A8ABC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72861"/>
              </p:ext>
            </p:extLst>
          </p:nvPr>
        </p:nvGraphicFramePr>
        <p:xfrm>
          <a:off x="932467" y="2347274"/>
          <a:ext cx="5553174" cy="1555984"/>
        </p:xfrm>
        <a:graphic>
          <a:graphicData uri="http://schemas.openxmlformats.org/drawingml/2006/table">
            <a:tbl>
              <a:tblPr/>
              <a:tblGrid>
                <a:gridCol w="2776587">
                  <a:extLst>
                    <a:ext uri="{9D8B030D-6E8A-4147-A177-3AD203B41FA5}">
                      <a16:colId xmlns:a16="http://schemas.microsoft.com/office/drawing/2014/main" val="2354251914"/>
                    </a:ext>
                  </a:extLst>
                </a:gridCol>
                <a:gridCol w="2776587">
                  <a:extLst>
                    <a:ext uri="{9D8B030D-6E8A-4147-A177-3AD203B41FA5}">
                      <a16:colId xmlns:a16="http://schemas.microsoft.com/office/drawing/2014/main" val="4061241566"/>
                    </a:ext>
                  </a:extLst>
                </a:gridCol>
              </a:tblGrid>
              <a:tr h="38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634822"/>
                  </a:ext>
                </a:extLst>
              </a:tr>
              <a:tr h="38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 daily at 2 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918957"/>
                  </a:ext>
                </a:extLst>
              </a:tr>
              <a:tr h="38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Trigger on file arrival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957561"/>
                  </a:ext>
                </a:extLst>
              </a:tr>
              <a:tr h="38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Dependency-based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Run after another job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1207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B957D9F-C7A3-55E7-4A14-F738C4C76259}"/>
              </a:ext>
            </a:extLst>
          </p:cNvPr>
          <p:cNvSpPr txBox="1"/>
          <p:nvPr/>
        </p:nvSpPr>
        <p:spPr>
          <a:xfrm>
            <a:off x="8483732" y="1489434"/>
            <a:ext cx="3535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Putting It All Together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F51A5-7461-87A6-85A9-81B10B3CE754}"/>
              </a:ext>
            </a:extLst>
          </p:cNvPr>
          <p:cNvSpPr txBox="1"/>
          <p:nvPr/>
        </p:nvSpPr>
        <p:spPr>
          <a:xfrm>
            <a:off x="8606671" y="1838342"/>
            <a:ext cx="31014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Sources (DB, API, Logs)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Ingestion (Kafka / Batch Jobs)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Storage (Data Lake - S3)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Transformation (Spark / </a:t>
            </a:r>
            <a:r>
              <a:rPr lang="en-IN" dirty="0" err="1"/>
              <a:t>dbt</a:t>
            </a:r>
            <a:r>
              <a:rPr lang="en-IN" dirty="0"/>
              <a:t>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Warehouse (Snowflake)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BI / ML / APIs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Users / Applications</a:t>
            </a:r>
          </a:p>
        </p:txBody>
      </p:sp>
    </p:spTree>
    <p:extLst>
      <p:ext uri="{BB962C8B-B14F-4D97-AF65-F5344CB8AC3E}">
        <p14:creationId xmlns:p14="http://schemas.microsoft.com/office/powerpoint/2010/main" val="2796489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56B5A-15A7-2C86-6484-D236299C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Takeaways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77DAE1-FFA2-1C85-9464-714DD3FAA8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70187"/>
            <a:ext cx="1112441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pipelines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layered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ETL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 of pipeline, not the whole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Ingress = incoming data, Egress = outgoing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Orchestration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 &amp; automation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pipelines favor: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Streaming + Batch hybrid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ELT over ETL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Cloud-native architecture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946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03F7-DB6C-E18B-1CE1-04E64F02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pic>
        <p:nvPicPr>
          <p:cNvPr id="14338" name="Picture 2" descr="Orchestrating ETL Pipeline with Apache Airflow | by Pooja | Medium">
            <a:extLst>
              <a:ext uri="{FF2B5EF4-FFF2-40B4-BE49-F238E27FC236}">
                <a16:creationId xmlns:a16="http://schemas.microsoft.com/office/drawing/2014/main" id="{D9CC3945-00A2-14F9-CB6A-A88EA043AF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740" y="1253331"/>
            <a:ext cx="81275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463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5564-3992-7736-4B2E-961F8957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66A8-5A85-9C1D-8A56-2504A7509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71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1361</Words>
  <Application>Microsoft Office PowerPoint</Application>
  <PresentationFormat>Widescreen</PresentationFormat>
  <Paragraphs>360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Fundamentals of Data Engineering </vt:lpstr>
      <vt:lpstr>Role of Data Engineering in Modern Data Platforms</vt:lpstr>
      <vt:lpstr>Key Responsibilities:</vt:lpstr>
      <vt:lpstr>Data Sources and Data Collection Methods</vt:lpstr>
      <vt:lpstr>Data Collection Methods</vt:lpstr>
      <vt:lpstr>Data Collection Methods</vt:lpstr>
      <vt:lpstr>Data Quality Challenges &amp; Data Cleaning Techniques</vt:lpstr>
      <vt:lpstr>Data Cleaning Techniques</vt:lpstr>
      <vt:lpstr>Data Lakes vs Data Warehouses</vt:lpstr>
      <vt:lpstr>Data Lakes vs Data Warehouses</vt:lpstr>
      <vt:lpstr>Key Differences </vt:lpstr>
      <vt:lpstr>Lakehouse</vt:lpstr>
      <vt:lpstr>Concept of Data Pipelines</vt:lpstr>
      <vt:lpstr>Real-Time vs Batch Processing</vt:lpstr>
      <vt:lpstr>Real-Time vs Batch Processing</vt:lpstr>
      <vt:lpstr>Real-Time vs Batch Processing</vt:lpstr>
      <vt:lpstr>DEMO</vt:lpstr>
      <vt:lpstr>What is Data Pipeline Architecture?</vt:lpstr>
      <vt:lpstr>What is Data Pipeline Architecture?</vt:lpstr>
      <vt:lpstr>Data Pipeline Layers</vt:lpstr>
      <vt:lpstr>Data Pipeline Layers</vt:lpstr>
      <vt:lpstr>Data Pipeline Layers</vt:lpstr>
      <vt:lpstr>Data Pipeline Layers</vt:lpstr>
      <vt:lpstr>Data Pipeline Layers</vt:lpstr>
      <vt:lpstr>Data Stack</vt:lpstr>
      <vt:lpstr>How ETL Fits into Data Pipelines</vt:lpstr>
      <vt:lpstr>Data Ingress &amp; Egress Concepts</vt:lpstr>
      <vt:lpstr>Pipeline Orchestration &amp; Scheduling</vt:lpstr>
      <vt:lpstr>Pipeline Orchestration &amp; Scheduling</vt:lpstr>
      <vt:lpstr>Key Takeaways </vt:lpstr>
      <vt:lpstr>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1</cp:revision>
  <dcterms:created xsi:type="dcterms:W3CDTF">2026-04-07T02:01:58Z</dcterms:created>
  <dcterms:modified xsi:type="dcterms:W3CDTF">2026-04-07T02:50:07Z</dcterms:modified>
</cp:coreProperties>
</file>