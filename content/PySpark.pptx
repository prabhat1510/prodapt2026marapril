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0556" autoAdjust="0"/>
  </p:normalViewPr>
  <p:slideViewPr>
    <p:cSldViewPr snapToGrid="0">
      <p:cViewPr varScale="1">
        <p:scale>
          <a:sx n="51" d="100"/>
          <a:sy n="51" d="100"/>
        </p:scale>
        <p:origin x="19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EE9FF-C97C-4988-9C94-11856DAD370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82650-975E-4651-9101-D9FC3683BB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8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amueldavidwinter/cleaning-data-with-pyspark-c0f18d5fceb9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devgenius.io/mastering-aggregations-in-pyspark-a-comprehensive-guide-with-real-life-use-cases-7f4e4706a534" TargetMode="External"/><Relationship Id="rId5" Type="http://schemas.openxmlformats.org/officeDocument/2006/relationships/hyperlink" Target="https://medium.com/@ai-futures/pysparks-groupby-and-agg-mastering-data-summarization-737fdc012caa" TargetMode="External"/><Relationship Id="rId4" Type="http://schemas.openxmlformats.org/officeDocument/2006/relationships/hyperlink" Target="https://medium.com/@arpitamishra11596/comprehensive-analysis-of-top-10-products-by-monthly-sales-revenue-using-pyspark-a-step-by-step-7a28800a6b11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https://blog.dataengineerthings.org/understanding-apache-spark-architecture-a-beginner-friendly-guide-for-data-engineers-28a14648ed2b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82650-975E-4651-9101-D9FC3683BB3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776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Source: https://medium.com/@kiranvutukuri/rdds-vs-dataframes-vs-datasets-choosing-the-right-part-11-b12d6969885d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82650-975E-4651-9101-D9FC3683BB3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705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Processing Steps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Initialization: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the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SparkSession.builder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create an entry point.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Cleaning: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Apply filter() to remove nulls and use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na.fill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to handle missing values.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Transformation: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withColumn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()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create new features or cast data types, such as converting strings to dates with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to_date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()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Aggregation: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groupBy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()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agg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()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calculate metrics like sum, average, and count.</a:t>
            </a:r>
          </a:p>
          <a:p>
            <a:r>
              <a:rPr lang="en-US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Storage: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</a:t>
            </a:r>
            <a:r>
              <a:rPr lang="en-US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write.parquet</a:t>
            </a:r>
            <a:r>
              <a:rPr lang="en-US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to save processed data in a columnar format that supports efficient compression and faster future reads.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82650-975E-4651-9101-D9FC3683BB3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870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782650-975E-4651-9101-D9FC3683BB3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020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86121-01C4-87B2-37A9-130FB7DAE1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DE4A2-A076-D0EC-2127-7EE2D7F32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AAF30-B265-771C-9092-5FD9953D3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3DC8D-2026-AE22-9970-BFF0B4D64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231F-9454-AB52-F4A2-7BA740335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25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AA0A4-4946-EEC0-46F1-23D0D9075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1D3B4-FAC2-CBF9-98F7-19F41503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F4CA7-6478-03CF-6E85-59E7A533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BCC5-29F7-3ADA-BFEE-B318A31B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2DFAE-9202-E392-1A5B-D6AD68D8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44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40229-B28E-9168-F686-85B95602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432A3-A216-6D3C-B45F-0CD0EF2F8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E3A44-9B31-2A8A-AB90-FEDCF8738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A2520-8AF1-C8D1-896E-12495882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9E61A-9369-5178-82D7-0394B9A5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685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4C74A-CC95-C2C1-B497-E32AA4E60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F7F7D-63B0-9A21-2FB0-00464748F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E7532-5F3E-7F50-F79D-EC1E710C9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91A8D-8FA8-3F03-AFC4-085702617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130866-8EC3-BBD7-EC0A-C6423D73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226145-4EC1-1E65-7A42-1ACE9282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703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6313-1EE2-A74C-B3D4-BF1D9DC49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CD3DB-FAA2-0F28-5455-0988626A0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15642-3DB2-755D-49D9-6FF76D6EA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1CC851-A981-0F28-14D9-FF2D9C9C8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856C41-248D-E58E-1CC0-818CF57151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456EB7-FBC7-6584-F737-B5C3B3FF1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290515-4C55-6375-E1BB-51F20D0F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8B173E-69A3-B42E-33B3-5C3DC7764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57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F73BC-B120-056B-8D96-B4B35E5D7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125459-0AD1-DC18-D96D-7DE8BDD8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6FC8A-3D0D-52B8-27D1-58A1743C7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8FA987-119B-F1B9-0256-DAE4630A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03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158E6-4923-5C5F-EDC5-791B4466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E426D-10C9-FBDD-6E1C-A9E9F1D4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70429-6FFE-55D9-C021-1AB30193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380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E6A9-7065-AF7E-0BFA-C8799895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CCBC5-454E-5A34-9F32-303628D3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F7D43-EA93-A432-28EE-0432D669D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536E8-FD31-20D8-3154-5435EFF26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9103D-2B57-B163-DC06-55B13E5E8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16AC1-9D7C-FA1A-A47D-6A427E28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954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DE8E-216C-69DF-DC68-DD9F208B7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58613-D894-E2A9-70B0-0127AC8F0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F7075-000B-C953-B15F-26BB5D37C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CDA82-3D21-CCD5-3FC9-F93450559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EE77A-3F4A-DCEA-346A-113865E8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4C7E8-3F63-10EC-979F-5A3126703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439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32FB-46A3-946B-9D64-2AD40C42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9FF9C1-B29B-C6DB-D9E1-8A5E1CC6F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262D9-DBEA-4E3A-EBE0-880599B5A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DD460-978A-948E-989E-17C2D85A3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571A7-5D23-BE13-E618-F2379EB64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648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89FED5-9C58-B8E1-87B1-16ADD6CF57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17CE82-7ED9-3FAA-50E3-7D46653E8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70B87-E08D-FBE4-CF06-28A2DEB56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65B16-9318-464E-04FC-F8DA7E7B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85ED9-D551-2E35-A088-7444285A8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312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0A6E4-B2EF-EF01-AAFF-591AB3B2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2134C-BBF9-6E3F-3981-8782707511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4705-7C29-A1EF-10B6-6F2AA8B3B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A7ED84-FE23-4FA4-9616-984259881C20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A4328-7B52-EFDF-F432-23EEE5B3ED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557BB-6CD4-2EB7-01F3-FF1BA25FE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0287A-6C83-479C-95CE-2966B46F06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05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byexamples.com/pyspark-tutoria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og.dataengineerthings.org/understanding-apache-spark-architecture-a-beginner-friendly-guide-for-data-engineers-28a14648ed2b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72A9B-5BDC-D6F8-66CB-E8510DAF91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983721-2BB3-F65C-9F35-6984F41BBF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59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0E4E5-EB88-1C7B-96CA-6C6BAD2A8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PySpark</a:t>
            </a:r>
            <a:r>
              <a:rPr lang="en-IN" dirty="0"/>
              <a:t> Fundamentals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7CF02-A88B-9CBE-F590-861C2CA29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What is </a:t>
            </a:r>
            <a:r>
              <a:rPr lang="en-US" b="1" dirty="0" err="1"/>
              <a:t>PySpark</a:t>
            </a:r>
            <a:r>
              <a:rPr lang="en-US" b="1" dirty="0"/>
              <a:t>?</a:t>
            </a:r>
          </a:p>
          <a:p>
            <a:pPr lvl="1"/>
            <a:r>
              <a:rPr lang="en-US" dirty="0" err="1"/>
              <a:t>PySpark</a:t>
            </a:r>
            <a:r>
              <a:rPr lang="en-US" dirty="0"/>
              <a:t> is the Python API for Apache Spark — a distributed data processing engine designed for </a:t>
            </a:r>
            <a:r>
              <a:rPr lang="en-US" b="1" dirty="0"/>
              <a:t>big data at scale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IN" b="1" dirty="0"/>
              <a:t>Distributed Processing Concepts</a:t>
            </a:r>
          </a:p>
          <a:p>
            <a:pPr marL="0" indent="0">
              <a:buNone/>
            </a:pPr>
            <a:r>
              <a:rPr lang="en-IN" b="1" dirty="0"/>
              <a:t> Core Idea:</a:t>
            </a:r>
          </a:p>
          <a:p>
            <a:pPr lvl="1"/>
            <a:r>
              <a:rPr lang="en-IN" dirty="0"/>
              <a:t>Instead of processing data on one machine → </a:t>
            </a:r>
            <a:r>
              <a:rPr lang="en-IN" b="1" dirty="0"/>
              <a:t>split data across multiple machines (cluster)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Key Concepts:</a:t>
            </a:r>
          </a:p>
          <a:p>
            <a:pPr lvl="1"/>
            <a:r>
              <a:rPr lang="en-IN" b="1" dirty="0"/>
              <a:t>Cluster</a:t>
            </a:r>
            <a:r>
              <a:rPr lang="en-IN" dirty="0"/>
              <a:t> → group of machines </a:t>
            </a:r>
          </a:p>
          <a:p>
            <a:pPr lvl="1"/>
            <a:r>
              <a:rPr lang="en-IN" b="1" dirty="0"/>
              <a:t>Parallelism</a:t>
            </a:r>
            <a:r>
              <a:rPr lang="en-IN" dirty="0"/>
              <a:t> → tasks executed simultaneously </a:t>
            </a:r>
          </a:p>
          <a:p>
            <a:pPr lvl="1"/>
            <a:r>
              <a:rPr lang="en-IN" b="1" dirty="0"/>
              <a:t>Partitioning</a:t>
            </a:r>
            <a:r>
              <a:rPr lang="en-IN" dirty="0"/>
              <a:t> → splitting data into chunks </a:t>
            </a:r>
          </a:p>
          <a:p>
            <a:pPr lvl="1"/>
            <a:r>
              <a:rPr lang="en-IN" b="1" dirty="0"/>
              <a:t>Fault tolerance</a:t>
            </a:r>
            <a:r>
              <a:rPr lang="en-IN" dirty="0"/>
              <a:t> → recompute lost partitions </a:t>
            </a:r>
          </a:p>
          <a:p>
            <a:pPr marL="0" indent="0">
              <a:buNone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If you process 1TB data:</a:t>
            </a:r>
          </a:p>
          <a:p>
            <a:pPr lvl="1"/>
            <a:r>
              <a:rPr lang="en-IN" dirty="0"/>
              <a:t>Single machine → hours </a:t>
            </a:r>
          </a:p>
          <a:p>
            <a:pPr lvl="1"/>
            <a:r>
              <a:rPr lang="en-IN" dirty="0"/>
              <a:t>Spark cluster → minutes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524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76C9-85D6-24EC-58BB-6848C415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Spark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3F53D-6732-A425-8698-5765F042A7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Components:</a:t>
            </a:r>
          </a:p>
          <a:p>
            <a:pPr lvl="1"/>
            <a:r>
              <a:rPr lang="en-IN" b="1" dirty="0"/>
              <a:t>Driver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Main program (your </a:t>
            </a:r>
            <a:r>
              <a:rPr lang="en-IN" dirty="0" err="1"/>
              <a:t>PySpark</a:t>
            </a:r>
            <a:r>
              <a:rPr lang="en-IN" dirty="0"/>
              <a:t> script) </a:t>
            </a:r>
          </a:p>
          <a:p>
            <a:pPr lvl="2"/>
            <a:r>
              <a:rPr lang="en-IN" dirty="0"/>
              <a:t>Creates </a:t>
            </a:r>
            <a:r>
              <a:rPr lang="en-IN" dirty="0" err="1"/>
              <a:t>SparkSession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Builds execution plan </a:t>
            </a:r>
          </a:p>
          <a:p>
            <a:pPr lvl="1"/>
            <a:r>
              <a:rPr lang="en-IN" b="1" dirty="0"/>
              <a:t>Executors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Worker nodes </a:t>
            </a:r>
          </a:p>
          <a:p>
            <a:pPr lvl="2"/>
            <a:r>
              <a:rPr lang="en-IN" dirty="0"/>
              <a:t>Execute tasks </a:t>
            </a:r>
          </a:p>
          <a:p>
            <a:pPr lvl="2"/>
            <a:r>
              <a:rPr lang="en-IN" dirty="0"/>
              <a:t>Store data in memory </a:t>
            </a:r>
          </a:p>
          <a:p>
            <a:pPr lvl="1"/>
            <a:r>
              <a:rPr lang="en-IN" b="1" dirty="0"/>
              <a:t>Cluster Manager</a:t>
            </a:r>
            <a:r>
              <a:rPr lang="en-IN" dirty="0"/>
              <a:t> </a:t>
            </a:r>
          </a:p>
          <a:p>
            <a:pPr lvl="2"/>
            <a:r>
              <a:rPr lang="en-IN" dirty="0"/>
              <a:t>Allocates resources </a:t>
            </a:r>
          </a:p>
          <a:p>
            <a:pPr lvl="2"/>
            <a:r>
              <a:rPr lang="en-IN" dirty="0"/>
              <a:t>Examples: </a:t>
            </a:r>
          </a:p>
          <a:p>
            <a:pPr lvl="3"/>
            <a:r>
              <a:rPr lang="en-IN" dirty="0"/>
              <a:t>YARN </a:t>
            </a:r>
          </a:p>
          <a:p>
            <a:pPr lvl="3"/>
            <a:r>
              <a:rPr lang="en-IN" dirty="0"/>
              <a:t>Kubernetes </a:t>
            </a:r>
          </a:p>
          <a:p>
            <a:pPr lvl="3"/>
            <a:r>
              <a:rPr lang="en-IN" dirty="0"/>
              <a:t>Standalone</a:t>
            </a:r>
          </a:p>
          <a:p>
            <a:pPr marL="0" indent="0">
              <a:buNone/>
            </a:pPr>
            <a:r>
              <a:rPr lang="en-IN" dirty="0"/>
              <a:t>Flow :</a:t>
            </a:r>
          </a:p>
          <a:p>
            <a:pPr marL="0" indent="0">
              <a:buNone/>
            </a:pPr>
            <a:r>
              <a:rPr lang="en-US" dirty="0"/>
              <a:t>Driver → creates DAG → sends tasks → Executors → return results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BF9D25-C3AE-0D75-A5A6-55153036A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277" y="1825625"/>
            <a:ext cx="5041523" cy="335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753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1C27D-DC21-32E7-7535-03A1B6D5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/>
              <a:t>RDD vs DataFrame vs Dataset</a:t>
            </a:r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59C4E2-BDBB-F79C-F898-ADEC9F460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In Apache Spark, </a:t>
            </a:r>
            <a:r>
              <a:rPr lang="en-US" b="1" dirty="0"/>
              <a:t>RDDs</a:t>
            </a:r>
            <a:r>
              <a:rPr lang="en-US" dirty="0"/>
              <a:t>, </a:t>
            </a:r>
            <a:r>
              <a:rPr lang="en-US" b="1" dirty="0" err="1"/>
              <a:t>DataFrames</a:t>
            </a:r>
            <a:r>
              <a:rPr lang="en-US" dirty="0"/>
              <a:t>, and </a:t>
            </a:r>
            <a:r>
              <a:rPr lang="en-US" b="1" dirty="0"/>
              <a:t>Datasets</a:t>
            </a:r>
            <a:r>
              <a:rPr lang="en-US" dirty="0"/>
              <a:t> are data abstractions used for distributed processing. While they share traits like fault tolerance and lazy evaluation, they differ in optimization, type safety, and language support. </a:t>
            </a:r>
          </a:p>
          <a:p>
            <a:pPr marL="0" indent="0">
              <a:buNone/>
            </a:pPr>
            <a:r>
              <a:rPr lang="en-US" b="1" dirty="0"/>
              <a:t>RDD (Resilient Distributed Dataset)</a:t>
            </a:r>
          </a:p>
          <a:p>
            <a:pPr marL="0" indent="0">
              <a:buNone/>
            </a:pPr>
            <a:r>
              <a:rPr lang="en-US" dirty="0"/>
              <a:t>The original Spark abstraction, RDDs are immutable collections of objects distributed across a cluster. 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Low-level transformations, unstructured data (like media streams), or when you need total control over data lineage and partitioning.</a:t>
            </a:r>
          </a:p>
          <a:p>
            <a:pPr lvl="1"/>
            <a:r>
              <a:rPr lang="en-US" b="1" dirty="0"/>
              <a:t>Limitation:</a:t>
            </a:r>
            <a:r>
              <a:rPr lang="en-US" dirty="0"/>
              <a:t> It lacks a schema, meaning Spark cannot optimize queries automatically. It also relies on expensive Java serialization.</a:t>
            </a:r>
          </a:p>
          <a:p>
            <a:pPr lvl="1"/>
            <a:r>
              <a:rPr lang="en-US" b="1" dirty="0"/>
              <a:t>Documentation:</a:t>
            </a:r>
            <a:r>
              <a:rPr lang="en-US" dirty="0"/>
              <a:t> RDD Programming Guide (Apache Spark).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0562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7173B-E7D2-C9BE-12DE-38CA5F208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493B-CF8A-A1E5-2CDA-752F1D84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/>
              <a:t>RDD vs DataFrame vs Dataset</a:t>
            </a:r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7C701AF-3CEE-BB80-A123-43C8393A0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DataFrame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Introduced in Spark 1.3, a </a:t>
            </a:r>
            <a:r>
              <a:rPr lang="en-US" dirty="0" err="1"/>
              <a:t>DataFrame</a:t>
            </a:r>
            <a:r>
              <a:rPr lang="en-US" dirty="0"/>
              <a:t> organizes data into named columns, similar to a table in a relational database. </a:t>
            </a:r>
          </a:p>
          <a:p>
            <a:pPr lvl="1"/>
            <a:r>
              <a:rPr lang="en-US" b="1" dirty="0"/>
              <a:t>Best For:</a:t>
            </a:r>
            <a:r>
              <a:rPr lang="en-US" dirty="0"/>
              <a:t> Most data engineering tasks, ETL, and SQL-style analytics. It is the default choice for </a:t>
            </a:r>
            <a:r>
              <a:rPr lang="en-US" b="1" dirty="0"/>
              <a:t>Python (</a:t>
            </a:r>
            <a:r>
              <a:rPr lang="en-US" b="1" dirty="0" err="1"/>
              <a:t>PySpark</a:t>
            </a:r>
            <a:r>
              <a:rPr lang="en-US" b="1" dirty="0"/>
              <a:t>)</a:t>
            </a:r>
            <a:r>
              <a:rPr lang="en-US" dirty="0"/>
              <a:t> and </a:t>
            </a:r>
            <a:r>
              <a:rPr lang="en-US" b="1" dirty="0"/>
              <a:t>R</a:t>
            </a:r>
            <a:r>
              <a:rPr lang="en-US" dirty="0"/>
              <a:t> users.</a:t>
            </a:r>
          </a:p>
          <a:p>
            <a:pPr lvl="1"/>
            <a:r>
              <a:rPr lang="en-US" b="1" dirty="0"/>
              <a:t>Performance:</a:t>
            </a:r>
            <a:r>
              <a:rPr lang="en-US" dirty="0"/>
              <a:t> Uses the Catalyst Optimizer and Project Tungsten for superior execution speed compared to RDDs.</a:t>
            </a:r>
          </a:p>
          <a:p>
            <a:pPr lvl="1"/>
            <a:r>
              <a:rPr lang="en-US" b="1" dirty="0"/>
              <a:t>Limitation:</a:t>
            </a:r>
            <a:r>
              <a:rPr lang="en-US" dirty="0"/>
              <a:t> It is "untyped," meaning errors in column names or types are often only caught at runtime. 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896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D23CE-7553-739E-7397-BB698020C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940CC-56AE-9F37-64CD-DCFC39DF4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/>
              <a:t>RDD vs DataFrame vs Dataset</a:t>
            </a:r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DB7457F-EA3D-706D-6A68-AA04B082A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3. Dataset</a:t>
            </a:r>
          </a:p>
          <a:p>
            <a:pPr marL="0" indent="0">
              <a:buNone/>
            </a:pPr>
            <a:r>
              <a:rPr lang="en-US" dirty="0"/>
              <a:t>Introduced in Spark 1.6, Datasets combine the type safety of RDDs with the performance optimizations of </a:t>
            </a:r>
            <a:r>
              <a:rPr lang="en-US" dirty="0" err="1"/>
              <a:t>DataFrames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b="1" dirty="0"/>
              <a:t>Best For:</a:t>
            </a:r>
            <a:r>
              <a:rPr lang="en-US" dirty="0"/>
              <a:t> Production systems in Scala or Java where compile-time safety is critical for complex business logic.</a:t>
            </a:r>
          </a:p>
          <a:p>
            <a:pPr lvl="1"/>
            <a:r>
              <a:rPr lang="en-US" b="1" dirty="0"/>
              <a:t>Relationship:</a:t>
            </a:r>
            <a:r>
              <a:rPr lang="en-US" dirty="0"/>
              <a:t> In Spark 2.0+, </a:t>
            </a:r>
            <a:r>
              <a:rPr lang="en-US" dirty="0" err="1"/>
              <a:t>DataFrame</a:t>
            </a:r>
            <a:r>
              <a:rPr lang="en-US" dirty="0"/>
              <a:t> is essentially an alias for Dataset[Row].</a:t>
            </a:r>
          </a:p>
          <a:p>
            <a:pPr lvl="1"/>
            <a:r>
              <a:rPr lang="en-US" b="1" dirty="0"/>
              <a:t>Optimization:</a:t>
            </a:r>
            <a:r>
              <a:rPr lang="en-US" dirty="0"/>
              <a:t> Uses </a:t>
            </a:r>
            <a:r>
              <a:rPr lang="en-US" b="1" dirty="0"/>
              <a:t>Encoders</a:t>
            </a:r>
            <a:r>
              <a:rPr lang="en-US" dirty="0"/>
              <a:t> to map JVM objects to Spark's internal binary format, reducing garbage collection overhead.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0424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99F74-2D57-4F99-505F-2EE92D1F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1DB6-3AC8-4CD7-76D2-477166E8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/>
              <a:t>RDD vs DataFrame vs Dataset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106A422-4F33-C4F9-F9EF-15A0BBA1225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4849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978196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157160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5162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52431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RDD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718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9129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Type Safety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 (Scala)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20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77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Catalyst Optimizer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Catalyst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1833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BAE6105-E6BD-9E51-1977-7A20B8790BCE}"/>
              </a:ext>
            </a:extLst>
          </p:cNvPr>
          <p:cNvSpPr txBox="1"/>
          <p:nvPr/>
        </p:nvSpPr>
        <p:spPr>
          <a:xfrm>
            <a:off x="951321" y="5255827"/>
            <a:ext cx="8513190" cy="66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Recommendation: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 err="1"/>
              <a:t>DataFrame</a:t>
            </a:r>
            <a:r>
              <a:rPr lang="en-US" b="1" dirty="0"/>
              <a:t> (MOST IMPORTANT)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07FEB-6E0D-A26C-AA00-500DF64C06F2}"/>
              </a:ext>
            </a:extLst>
          </p:cNvPr>
          <p:cNvSpPr txBox="1"/>
          <p:nvPr/>
        </p:nvSpPr>
        <p:spPr>
          <a:xfrm>
            <a:off x="838200" y="3747810"/>
            <a:ext cx="9568992" cy="1307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Choosing between RDDs,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DataFrames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, and Datasets depends on your specific use case: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Use RDDs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low-level transformations and flexibility.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Use </a:t>
            </a:r>
            <a:r>
              <a:rPr lang="en-US" b="1" i="0" dirty="0" err="1">
                <a:solidFill>
                  <a:srgbClr val="242424"/>
                </a:solidFill>
                <a:effectLst/>
                <a:latin typeface="source-serif-pro"/>
              </a:rPr>
              <a:t>DataFrames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for structured data and SQL-like operations.</a:t>
            </a:r>
          </a:p>
          <a:p>
            <a:pPr algn="l">
              <a:lnSpc>
                <a:spcPts val="24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242424"/>
                </a:solidFill>
                <a:effectLst/>
                <a:latin typeface="source-serif-pro"/>
              </a:rPr>
              <a:t>Use Datasets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 when type safety and performance are critical in Scala/Java.</a:t>
            </a:r>
          </a:p>
        </p:txBody>
      </p:sp>
    </p:spTree>
    <p:extLst>
      <p:ext uri="{BB962C8B-B14F-4D97-AF65-F5344CB8AC3E}">
        <p14:creationId xmlns:p14="http://schemas.microsoft.com/office/powerpoint/2010/main" val="363001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D86E4-B6B6-0F45-7FDC-8F9F6BF15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SparkSession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FA176-6A1E-A550-599C-8D498C417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/>
              <a:t>SparkSession</a:t>
            </a:r>
            <a:endParaRPr lang="en-US" b="1" dirty="0"/>
          </a:p>
          <a:p>
            <a:r>
              <a:rPr lang="en-US" dirty="0"/>
              <a:t>Entry point to </a:t>
            </a:r>
            <a:r>
              <a:rPr lang="en-US" dirty="0" err="1"/>
              <a:t>PySpark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spark = </a:t>
            </a:r>
            <a:r>
              <a:rPr lang="en-IN" dirty="0" err="1"/>
              <a:t>SparkSession.builder</a:t>
            </a:r>
            <a:r>
              <a:rPr lang="en-IN" dirty="0"/>
              <a:t> \</a:t>
            </a:r>
          </a:p>
          <a:p>
            <a:pPr marL="0" indent="0">
              <a:buNone/>
            </a:pPr>
            <a:r>
              <a:rPr lang="en-IN" dirty="0"/>
              <a:t>    .</a:t>
            </a:r>
            <a:r>
              <a:rPr lang="en-IN" dirty="0" err="1"/>
              <a:t>appName</a:t>
            </a:r>
            <a:r>
              <a:rPr lang="en-IN" dirty="0"/>
              <a:t>("ETL Example") \</a:t>
            </a:r>
          </a:p>
          <a:p>
            <a:pPr marL="0" indent="0">
              <a:buNone/>
            </a:pPr>
            <a:r>
              <a:rPr lang="en-IN" dirty="0"/>
              <a:t>    .</a:t>
            </a:r>
            <a:r>
              <a:rPr lang="en-IN" dirty="0" err="1"/>
              <a:t>getOrCreate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b="1" dirty="0"/>
              <a:t>Lazy Evaluation &amp; DAG</a:t>
            </a:r>
          </a:p>
          <a:p>
            <a:r>
              <a:rPr lang="en-US" b="1" dirty="0"/>
              <a:t>Lazy Evaluation:</a:t>
            </a:r>
          </a:p>
          <a:p>
            <a:pPr lvl="1"/>
            <a:r>
              <a:rPr lang="en-US" dirty="0"/>
              <a:t>Spark does NOT execute immediately.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 = spark.read.csv("data.csv")</a:t>
            </a:r>
          </a:p>
          <a:p>
            <a:pPr marL="457200" lvl="1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df.filter</a:t>
            </a:r>
            <a:r>
              <a:rPr lang="en-US" dirty="0"/>
              <a:t>("age &gt; 25")   # NOT executed yet</a:t>
            </a:r>
          </a:p>
          <a:p>
            <a:pPr marL="457200" lvl="1" indent="0">
              <a:buNone/>
            </a:pPr>
            <a:r>
              <a:rPr lang="en-US" dirty="0" err="1"/>
              <a:t>df.show</a:t>
            </a:r>
            <a:r>
              <a:rPr lang="en-US" dirty="0"/>
              <a:t>()                    # Execution happens here</a:t>
            </a:r>
          </a:p>
          <a:p>
            <a:r>
              <a:rPr lang="en-US" b="1" dirty="0"/>
              <a:t>DAG (Directed Acyclic Graph):</a:t>
            </a:r>
          </a:p>
          <a:p>
            <a:pPr lvl="1"/>
            <a:r>
              <a:rPr lang="en-US" dirty="0"/>
              <a:t>Logical execution plan </a:t>
            </a:r>
          </a:p>
          <a:p>
            <a:pPr lvl="1"/>
            <a:r>
              <a:rPr lang="en-US" dirty="0"/>
              <a:t>Optimized before execution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8269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BEF67-5564-F04E-0F25-45C6FCE6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 with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D9C02-7FC4-0F63-B083-3D0F7C169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Reading Data</a:t>
            </a:r>
          </a:p>
          <a:p>
            <a:pPr marL="457200" lvl="1" indent="0">
              <a:buNone/>
            </a:pPr>
            <a:r>
              <a:rPr lang="en-IN" dirty="0" err="1"/>
              <a:t>df_csv</a:t>
            </a:r>
            <a:r>
              <a:rPr lang="en-IN" dirty="0"/>
              <a:t> = spark.read.csv("data.csv", header=True, </a:t>
            </a:r>
            <a:r>
              <a:rPr lang="en-IN" dirty="0" err="1"/>
              <a:t>inferSchema</a:t>
            </a:r>
            <a:r>
              <a:rPr lang="en-IN" dirty="0"/>
              <a:t>=True)</a:t>
            </a:r>
          </a:p>
          <a:p>
            <a:pPr marL="457200" lvl="1" indent="0">
              <a:buNone/>
            </a:pPr>
            <a:r>
              <a:rPr lang="en-IN" dirty="0" err="1"/>
              <a:t>df_json</a:t>
            </a:r>
            <a:r>
              <a:rPr lang="en-IN" dirty="0"/>
              <a:t> = </a:t>
            </a:r>
            <a:r>
              <a:rPr lang="en-IN" dirty="0" err="1"/>
              <a:t>spark.read.json</a:t>
            </a:r>
            <a:r>
              <a:rPr lang="en-IN" dirty="0"/>
              <a:t>("</a:t>
            </a:r>
            <a:r>
              <a:rPr lang="en-IN" dirty="0" err="1"/>
              <a:t>data.json</a:t>
            </a:r>
            <a:r>
              <a:rPr lang="en-IN" dirty="0"/>
              <a:t>")</a:t>
            </a:r>
          </a:p>
          <a:p>
            <a:pPr marL="457200" lvl="1" indent="0">
              <a:buNone/>
            </a:pPr>
            <a:r>
              <a:rPr lang="en-IN" dirty="0" err="1"/>
              <a:t>df_parquet</a:t>
            </a:r>
            <a:r>
              <a:rPr lang="en-IN" dirty="0"/>
              <a:t> = </a:t>
            </a:r>
            <a:r>
              <a:rPr lang="en-IN" dirty="0" err="1"/>
              <a:t>spark.read.parquet</a:t>
            </a:r>
            <a:r>
              <a:rPr lang="en-IN" dirty="0"/>
              <a:t>("</a:t>
            </a:r>
            <a:r>
              <a:rPr lang="en-IN" dirty="0" err="1"/>
              <a:t>data.parquet</a:t>
            </a:r>
            <a:r>
              <a:rPr lang="en-IN" dirty="0"/>
              <a:t>")</a:t>
            </a:r>
          </a:p>
          <a:p>
            <a:pPr marL="0" indent="0">
              <a:buNone/>
            </a:pPr>
            <a:r>
              <a:rPr lang="en-IN" b="1" dirty="0"/>
              <a:t>Transformations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df_filtered</a:t>
            </a:r>
            <a:r>
              <a:rPr lang="en-IN" dirty="0"/>
              <a:t> = </a:t>
            </a:r>
            <a:r>
              <a:rPr lang="en-IN" dirty="0" err="1"/>
              <a:t>df_csv.filter</a:t>
            </a:r>
            <a:r>
              <a:rPr lang="en-IN" dirty="0"/>
              <a:t>(</a:t>
            </a:r>
            <a:r>
              <a:rPr lang="en-IN" dirty="0" err="1"/>
              <a:t>df_csv.age</a:t>
            </a:r>
            <a:r>
              <a:rPr lang="en-IN" dirty="0"/>
              <a:t> &gt; 25)</a:t>
            </a:r>
          </a:p>
          <a:p>
            <a:pPr marL="0" indent="0">
              <a:buNone/>
            </a:pPr>
            <a:r>
              <a:rPr lang="en-IN" b="1" dirty="0"/>
              <a:t>Select Columns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df_selected</a:t>
            </a:r>
            <a:r>
              <a:rPr lang="en-US" dirty="0"/>
              <a:t> = </a:t>
            </a:r>
            <a:r>
              <a:rPr lang="en-US" dirty="0" err="1"/>
              <a:t>df_csv.select</a:t>
            </a:r>
            <a:r>
              <a:rPr lang="en-US" dirty="0"/>
              <a:t>("name", "age")</a:t>
            </a:r>
          </a:p>
          <a:p>
            <a:pPr marL="0" indent="0">
              <a:buNone/>
            </a:pPr>
            <a:r>
              <a:rPr lang="en-IN" b="1" dirty="0"/>
              <a:t>Aggregations</a:t>
            </a:r>
          </a:p>
          <a:p>
            <a:pPr marL="0" indent="0">
              <a:buNone/>
            </a:pPr>
            <a:r>
              <a:rPr lang="en-IN" dirty="0"/>
              <a:t>	from </a:t>
            </a:r>
            <a:r>
              <a:rPr lang="en-IN" dirty="0" err="1"/>
              <a:t>pyspark.sql.functions</a:t>
            </a:r>
            <a:r>
              <a:rPr lang="en-IN" dirty="0"/>
              <a:t> import </a:t>
            </a:r>
            <a:r>
              <a:rPr lang="en-IN" dirty="0" err="1"/>
              <a:t>avg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df_avg</a:t>
            </a:r>
            <a:r>
              <a:rPr lang="en-IN" dirty="0"/>
              <a:t> = </a:t>
            </a:r>
            <a:r>
              <a:rPr lang="en-IN" dirty="0" err="1"/>
              <a:t>df_csv.groupBy</a:t>
            </a:r>
            <a:r>
              <a:rPr lang="en-IN" dirty="0"/>
              <a:t>("department").</a:t>
            </a:r>
            <a:r>
              <a:rPr lang="en-IN" dirty="0" err="1"/>
              <a:t>agg</a:t>
            </a:r>
            <a:r>
              <a:rPr lang="en-IN" dirty="0"/>
              <a:t>(</a:t>
            </a:r>
            <a:r>
              <a:rPr lang="en-IN" dirty="0" err="1"/>
              <a:t>avg</a:t>
            </a:r>
            <a:r>
              <a:rPr lang="en-IN" dirty="0"/>
              <a:t>("salary"))</a:t>
            </a:r>
          </a:p>
          <a:p>
            <a:pPr marL="0" indent="0">
              <a:buNone/>
            </a:pPr>
            <a:r>
              <a:rPr lang="en-IN" b="1" dirty="0"/>
              <a:t>Joins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df_joined</a:t>
            </a:r>
            <a:r>
              <a:rPr lang="en-US" dirty="0"/>
              <a:t> = df1.join(df2, on="id", how="inner")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2445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EB3DA-BC7A-26A4-512B-EC67073D8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9350-136C-44E9-3926-9C88155E9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 with </a:t>
            </a:r>
            <a:r>
              <a:rPr lang="en-IN" dirty="0" err="1"/>
              <a:t>PySpark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A704D-8387-E1D0-4E55-5B3865B61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Writing Data</a:t>
            </a:r>
          </a:p>
          <a:p>
            <a:pPr marL="0" indent="0">
              <a:buNone/>
            </a:pPr>
            <a:r>
              <a:rPr lang="en-IN" dirty="0" err="1"/>
              <a:t>df.write.mode</a:t>
            </a:r>
            <a:r>
              <a:rPr lang="en-IN" dirty="0"/>
              <a:t>("overwrite").parquet("output/")</a:t>
            </a:r>
          </a:p>
          <a:p>
            <a:pPr marL="0" indent="0">
              <a:buNone/>
            </a:pPr>
            <a:r>
              <a:rPr lang="en-IN" dirty="0"/>
              <a:t>df.write.csv("</a:t>
            </a:r>
            <a:r>
              <a:rPr lang="en-IN" dirty="0" err="1"/>
              <a:t>output_csv</a:t>
            </a:r>
            <a:r>
              <a:rPr lang="en-IN" dirty="0"/>
              <a:t>/")</a:t>
            </a:r>
          </a:p>
          <a:p>
            <a:pPr marL="0" indent="0">
              <a:buNone/>
            </a:pPr>
            <a:r>
              <a:rPr lang="en-IN" b="1" dirty="0"/>
              <a:t>Handling Large Data Efficiently</a:t>
            </a:r>
          </a:p>
          <a:p>
            <a:pPr marL="457200" lvl="1" indent="0">
              <a:buNone/>
            </a:pPr>
            <a:r>
              <a:rPr lang="en-US" b="1" dirty="0"/>
              <a:t>Best Practices:</a:t>
            </a:r>
          </a:p>
          <a:p>
            <a:pPr lvl="2"/>
            <a:r>
              <a:rPr lang="en-US" dirty="0"/>
              <a:t>Use </a:t>
            </a:r>
            <a:r>
              <a:rPr lang="en-US" b="1" dirty="0"/>
              <a:t>partitioning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Avoid collect() </a:t>
            </a:r>
          </a:p>
          <a:p>
            <a:pPr lvl="2"/>
            <a:r>
              <a:rPr lang="en-US" dirty="0"/>
              <a:t>Use </a:t>
            </a:r>
            <a:r>
              <a:rPr lang="en-US" b="1" dirty="0"/>
              <a:t>broadcast joins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Cache data</a:t>
            </a:r>
          </a:p>
          <a:p>
            <a:pPr lvl="3"/>
            <a:r>
              <a:rPr lang="en-US" dirty="0" err="1"/>
              <a:t>df.cache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07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EB48-0DAC-F164-6E01-A728B8E1A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End-to-End ETL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C381-7994-E250-762F-68FEFD6C2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Scenario:</a:t>
            </a:r>
          </a:p>
          <a:p>
            <a:pPr lvl="1"/>
            <a:r>
              <a:rPr lang="en-US" dirty="0"/>
              <a:t>Process sales data → clean → aggregate → store</a:t>
            </a:r>
          </a:p>
          <a:p>
            <a:pPr marL="0" indent="0">
              <a:buNone/>
            </a:pPr>
            <a:r>
              <a:rPr lang="en-IN" dirty="0"/>
              <a:t>Step 1: Setup</a:t>
            </a:r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from </a:t>
            </a:r>
            <a:r>
              <a:rPr lang="en-IN" dirty="0" err="1"/>
              <a:t>pyspark.sql.functions</a:t>
            </a:r>
            <a:r>
              <a:rPr lang="en-IN" dirty="0"/>
              <a:t> import col, sum</a:t>
            </a:r>
          </a:p>
          <a:p>
            <a:pPr marL="457200" lvl="1" indent="0">
              <a:buNone/>
            </a:pPr>
            <a:r>
              <a:rPr lang="en-IN" dirty="0"/>
              <a:t>spark = </a:t>
            </a:r>
            <a:r>
              <a:rPr lang="en-IN" dirty="0" err="1"/>
              <a:t>SparkSession.builder.appName</a:t>
            </a:r>
            <a:r>
              <a:rPr lang="en-IN" dirty="0"/>
              <a:t>("ETL Pipeline").</a:t>
            </a:r>
            <a:r>
              <a:rPr lang="en-IN" dirty="0" err="1"/>
              <a:t>getOrCreate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Step2: Extract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df</a:t>
            </a:r>
            <a:r>
              <a:rPr lang="en-IN" dirty="0"/>
              <a:t> = spark.read.csv("sales.csv", header=True, </a:t>
            </a:r>
            <a:r>
              <a:rPr lang="en-IN" dirty="0" err="1"/>
              <a:t>inferSchema</a:t>
            </a:r>
            <a:r>
              <a:rPr lang="en-IN" dirty="0"/>
              <a:t>=True)</a:t>
            </a:r>
          </a:p>
          <a:p>
            <a:pPr marL="0" indent="0">
              <a:buNone/>
            </a:pPr>
            <a:r>
              <a:rPr lang="en-IN" dirty="0"/>
              <a:t>Step 3: Transform</a:t>
            </a:r>
          </a:p>
          <a:p>
            <a:pPr marL="457200" lvl="1" indent="0">
              <a:buNone/>
            </a:pPr>
            <a:r>
              <a:rPr lang="en-IN" dirty="0"/>
              <a:t># Clean data</a:t>
            </a:r>
          </a:p>
          <a:p>
            <a:pPr marL="457200" lvl="1" indent="0">
              <a:buNone/>
            </a:pPr>
            <a:r>
              <a:rPr lang="en-IN" dirty="0" err="1"/>
              <a:t>df_clean</a:t>
            </a:r>
            <a:r>
              <a:rPr lang="en-IN" dirty="0"/>
              <a:t> = </a:t>
            </a:r>
            <a:r>
              <a:rPr lang="en-IN" dirty="0" err="1"/>
              <a:t>df.filter</a:t>
            </a:r>
            <a:r>
              <a:rPr lang="en-IN" dirty="0"/>
              <a:t>(col("amount").</a:t>
            </a:r>
            <a:r>
              <a:rPr lang="en-IN" dirty="0" err="1"/>
              <a:t>isNotNull</a:t>
            </a:r>
            <a:r>
              <a:rPr lang="en-IN" dirty="0"/>
              <a:t>())</a:t>
            </a:r>
          </a:p>
          <a:p>
            <a:pPr marL="457200" lvl="1" indent="0">
              <a:buNone/>
            </a:pPr>
            <a:r>
              <a:rPr lang="en-IN" dirty="0"/>
              <a:t># Business logic</a:t>
            </a:r>
          </a:p>
          <a:p>
            <a:pPr marL="457200" lvl="1" indent="0">
              <a:buNone/>
            </a:pPr>
            <a:r>
              <a:rPr lang="en-IN" dirty="0" err="1"/>
              <a:t>df_transformed</a:t>
            </a:r>
            <a:r>
              <a:rPr lang="en-IN" dirty="0"/>
              <a:t> = </a:t>
            </a:r>
            <a:r>
              <a:rPr lang="en-IN" dirty="0" err="1"/>
              <a:t>df_clean.groupBy</a:t>
            </a:r>
            <a:r>
              <a:rPr lang="en-IN" dirty="0"/>
              <a:t>("region").</a:t>
            </a:r>
            <a:r>
              <a:rPr lang="en-IN" dirty="0" err="1"/>
              <a:t>agg</a:t>
            </a:r>
            <a:r>
              <a:rPr lang="en-IN" dirty="0"/>
              <a:t>(sum("amount").alias("</a:t>
            </a:r>
            <a:r>
              <a:rPr lang="en-IN" dirty="0" err="1"/>
              <a:t>total_sales</a:t>
            </a:r>
            <a:r>
              <a:rPr lang="en-IN" dirty="0"/>
              <a:t>"))</a:t>
            </a:r>
          </a:p>
          <a:p>
            <a:pPr marL="0" indent="0">
              <a:buNone/>
            </a:pPr>
            <a:r>
              <a:rPr lang="en-IN" dirty="0"/>
              <a:t>Step 4: Load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df_transformed.write.mode</a:t>
            </a:r>
            <a:r>
              <a:rPr lang="en-IN" dirty="0"/>
              <a:t>("overwrite").parquet("output/</a:t>
            </a:r>
            <a:r>
              <a:rPr lang="en-IN" dirty="0" err="1"/>
              <a:t>sales_summary</a:t>
            </a:r>
            <a:r>
              <a:rPr lang="en-IN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2413099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76D1-814D-CE71-01DF-62F72D5F5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68A0-099A-B657-697F-320DD6782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</a:t>
            </a:r>
            <a:r>
              <a:rPr lang="en-IN" dirty="0"/>
              <a:t> import </a:t>
            </a:r>
            <a:r>
              <a:rPr lang="en-IN" dirty="0" err="1"/>
              <a:t>SparkSession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pyspark.sql.functions</a:t>
            </a:r>
            <a:r>
              <a:rPr lang="en-IN" dirty="0"/>
              <a:t> import col, sum, </a:t>
            </a:r>
            <a:r>
              <a:rPr lang="en-IN" dirty="0" err="1"/>
              <a:t>avg</a:t>
            </a:r>
            <a:r>
              <a:rPr lang="en-IN" dirty="0"/>
              <a:t>, count, when, upper, </a:t>
            </a:r>
            <a:r>
              <a:rPr lang="en-IN" dirty="0" err="1"/>
              <a:t>to_date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1. Initialize Spark Session spark = </a:t>
            </a:r>
            <a:r>
              <a:rPr lang="en-IN" dirty="0" err="1"/>
              <a:t>SparkSession.builder</a:t>
            </a:r>
            <a:r>
              <a:rPr lang="en-IN" dirty="0"/>
              <a:t> \ .</a:t>
            </a:r>
            <a:r>
              <a:rPr lang="en-IN" dirty="0" err="1"/>
              <a:t>appName</a:t>
            </a:r>
            <a:r>
              <a:rPr lang="en-IN" dirty="0"/>
              <a:t>("</a:t>
            </a:r>
            <a:r>
              <a:rPr lang="en-IN" dirty="0" err="1"/>
              <a:t>SalesDataPipeline</a:t>
            </a:r>
            <a:r>
              <a:rPr lang="en-IN" dirty="0"/>
              <a:t>") \ .</a:t>
            </a:r>
            <a:r>
              <a:rPr lang="en-IN" dirty="0" err="1"/>
              <a:t>getOrCreate</a:t>
            </a:r>
            <a:r>
              <a:rPr lang="en-IN" dirty="0"/>
              <a:t>() </a:t>
            </a:r>
          </a:p>
          <a:p>
            <a:pPr marL="0" indent="0">
              <a:buNone/>
            </a:pPr>
            <a:r>
              <a:rPr lang="en-IN" dirty="0"/>
              <a:t># 2. Extract: Load raw sales data (Sample data creation) </a:t>
            </a:r>
          </a:p>
          <a:p>
            <a:pPr marL="0" indent="0">
              <a:buNone/>
            </a:pPr>
            <a:r>
              <a:rPr lang="en-IN" dirty="0"/>
              <a:t>data = [ ("Store1", "2023-01-01", "Laptop", 1200.0, 2), ("Store2", "2023-01-02", "mouse", 50.0, None), # Missing quantity ("Store1", "2023-01-02", "LAPTOP", 1200.0, 1), # Mixed casing ("Store3", "2023-01-03", None, 0.0, 1), # Null product ("Store2", "2023-01-04", "Mouse", 55.0, 5) ] </a:t>
            </a:r>
          </a:p>
          <a:p>
            <a:pPr marL="0" indent="0">
              <a:buNone/>
            </a:pPr>
            <a:r>
              <a:rPr lang="en-IN" dirty="0"/>
              <a:t>columns = ["</a:t>
            </a:r>
            <a:r>
              <a:rPr lang="en-IN" dirty="0" err="1"/>
              <a:t>store_id</a:t>
            </a:r>
            <a:r>
              <a:rPr lang="en-IN" dirty="0"/>
              <a:t>", "</a:t>
            </a:r>
            <a:r>
              <a:rPr lang="en-IN" dirty="0" err="1"/>
              <a:t>sale_date</a:t>
            </a:r>
            <a:r>
              <a:rPr lang="en-IN" dirty="0"/>
              <a:t>", "</a:t>
            </a:r>
            <a:r>
              <a:rPr lang="en-IN" dirty="0" err="1"/>
              <a:t>product_name</a:t>
            </a:r>
            <a:r>
              <a:rPr lang="en-IN" dirty="0"/>
              <a:t>", "price", "quantity"] 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spark.createDataFrame</a:t>
            </a:r>
            <a:r>
              <a:rPr lang="en-IN" dirty="0"/>
              <a:t>(data, columns)</a:t>
            </a:r>
          </a:p>
          <a:p>
            <a:pPr marL="0" indent="0">
              <a:buNone/>
            </a:pPr>
            <a:r>
              <a:rPr lang="en-IN" dirty="0"/>
              <a:t># 3. Clean: Handle nulls, standardize text, and cast types </a:t>
            </a:r>
          </a:p>
          <a:p>
            <a:pPr marL="0" indent="0">
              <a:buNone/>
            </a:pPr>
            <a:r>
              <a:rPr lang="en-IN" dirty="0" err="1"/>
              <a:t>cleaned_df</a:t>
            </a:r>
            <a:r>
              <a:rPr lang="en-IN" dirty="0"/>
              <a:t> = </a:t>
            </a:r>
            <a:r>
              <a:rPr lang="en-IN" dirty="0" err="1"/>
              <a:t>df.filter</a:t>
            </a:r>
            <a:r>
              <a:rPr lang="en-IN" dirty="0"/>
              <a:t>(col("</a:t>
            </a:r>
            <a:r>
              <a:rPr lang="en-IN" dirty="0" err="1"/>
              <a:t>product_name</a:t>
            </a:r>
            <a:r>
              <a:rPr lang="en-IN" dirty="0"/>
              <a:t>").</a:t>
            </a:r>
            <a:r>
              <a:rPr lang="en-IN" dirty="0" err="1"/>
              <a:t>isNotNull</a:t>
            </a:r>
            <a:r>
              <a:rPr lang="en-IN" dirty="0"/>
              <a:t>()) \ </a:t>
            </a:r>
          </a:p>
          <a:p>
            <a:pPr marL="0" indent="0">
              <a:buNone/>
            </a:pPr>
            <a:r>
              <a:rPr lang="en-IN" dirty="0"/>
              <a:t>	          .</a:t>
            </a:r>
            <a:r>
              <a:rPr lang="en-IN" dirty="0" err="1"/>
              <a:t>withColumn</a:t>
            </a:r>
            <a:r>
              <a:rPr lang="en-IN" dirty="0"/>
              <a:t>("</a:t>
            </a:r>
            <a:r>
              <a:rPr lang="en-IN" dirty="0" err="1"/>
              <a:t>product_name</a:t>
            </a:r>
            <a:r>
              <a:rPr lang="en-IN" dirty="0"/>
              <a:t>", upper(col("</a:t>
            </a:r>
            <a:r>
              <a:rPr lang="en-IN" dirty="0" err="1"/>
              <a:t>product_name</a:t>
            </a:r>
            <a:r>
              <a:rPr lang="en-IN" dirty="0"/>
              <a:t>"))) \ </a:t>
            </a:r>
          </a:p>
          <a:p>
            <a:pPr marL="0" indent="0">
              <a:buNone/>
            </a:pPr>
            <a:r>
              <a:rPr lang="en-IN" dirty="0"/>
              <a:t>                           .</a:t>
            </a:r>
            <a:r>
              <a:rPr lang="en-IN" dirty="0" err="1"/>
              <a:t>withColumn</a:t>
            </a:r>
            <a:r>
              <a:rPr lang="en-IN" dirty="0"/>
              <a:t>("</a:t>
            </a:r>
            <a:r>
              <a:rPr lang="en-IN" dirty="0" err="1"/>
              <a:t>sale_date</a:t>
            </a:r>
            <a:r>
              <a:rPr lang="en-IN" dirty="0"/>
              <a:t>", </a:t>
            </a:r>
            <a:r>
              <a:rPr lang="en-IN" dirty="0" err="1"/>
              <a:t>to_date</a:t>
            </a:r>
            <a:r>
              <a:rPr lang="en-IN" dirty="0"/>
              <a:t>(col("</a:t>
            </a:r>
            <a:r>
              <a:rPr lang="en-IN" dirty="0" err="1"/>
              <a:t>sale_date</a:t>
            </a:r>
            <a:r>
              <a:rPr lang="en-IN" dirty="0"/>
              <a:t>"))) \</a:t>
            </a:r>
          </a:p>
          <a:p>
            <a:pPr marL="0" indent="0">
              <a:buNone/>
            </a:pPr>
            <a:r>
              <a:rPr lang="en-IN" dirty="0"/>
              <a:t>	          .</a:t>
            </a:r>
            <a:r>
              <a:rPr lang="en-IN" dirty="0" err="1"/>
              <a:t>na.fill</a:t>
            </a:r>
            <a:r>
              <a:rPr lang="en-IN" dirty="0"/>
              <a:t>({"quantity": 0}) # Fill missing quantity with 0</a:t>
            </a:r>
          </a:p>
          <a:p>
            <a:pPr marL="0" indent="0">
              <a:buNone/>
            </a:pPr>
            <a:r>
              <a:rPr lang="en-US" dirty="0"/>
              <a:t># 4. Aggregate: Group by store and product to find total revenue # Revenue = price * quantity</a:t>
            </a:r>
          </a:p>
          <a:p>
            <a:pPr marL="0" indent="0">
              <a:buNone/>
            </a:pPr>
            <a:r>
              <a:rPr lang="en-IN" dirty="0" err="1"/>
              <a:t>processed_df</a:t>
            </a:r>
            <a:r>
              <a:rPr lang="en-IN" dirty="0"/>
              <a:t> = </a:t>
            </a:r>
            <a:r>
              <a:rPr lang="en-IN" dirty="0" err="1"/>
              <a:t>cleaned_df.withColumn</a:t>
            </a:r>
            <a:r>
              <a:rPr lang="en-IN" dirty="0"/>
              <a:t>("revenue", col("price") * col("quantity")) \ .</a:t>
            </a:r>
            <a:r>
              <a:rPr lang="en-IN" dirty="0" err="1"/>
              <a:t>groupBy</a:t>
            </a:r>
            <a:r>
              <a:rPr lang="en-IN" dirty="0"/>
              <a:t>("</a:t>
            </a:r>
            <a:r>
              <a:rPr lang="en-IN" dirty="0" err="1"/>
              <a:t>store_id</a:t>
            </a:r>
            <a:r>
              <a:rPr lang="en-IN" dirty="0"/>
              <a:t>", "</a:t>
            </a:r>
            <a:r>
              <a:rPr lang="en-IN" dirty="0" err="1"/>
              <a:t>product_name</a:t>
            </a:r>
            <a:r>
              <a:rPr lang="en-IN" dirty="0"/>
              <a:t>") \ .</a:t>
            </a:r>
            <a:r>
              <a:rPr lang="en-IN" dirty="0" err="1"/>
              <a:t>agg</a:t>
            </a:r>
            <a:r>
              <a:rPr lang="en-IN" dirty="0"/>
              <a:t>( sum("revenue").alias("</a:t>
            </a:r>
            <a:r>
              <a:rPr lang="en-IN" dirty="0" err="1"/>
              <a:t>total_revenue</a:t>
            </a:r>
            <a:r>
              <a:rPr lang="en-IN" dirty="0"/>
              <a:t>"), </a:t>
            </a:r>
            <a:r>
              <a:rPr lang="en-IN" dirty="0" err="1"/>
              <a:t>avg</a:t>
            </a:r>
            <a:r>
              <a:rPr lang="en-IN" dirty="0"/>
              <a:t>("price").alias("</a:t>
            </a:r>
            <a:r>
              <a:rPr lang="en-IN" dirty="0" err="1"/>
              <a:t>avg_unit_price</a:t>
            </a:r>
            <a:r>
              <a:rPr lang="en-IN" dirty="0"/>
              <a:t>"), count("</a:t>
            </a:r>
            <a:r>
              <a:rPr lang="en-IN" dirty="0" err="1"/>
              <a:t>product_name</a:t>
            </a:r>
            <a:r>
              <a:rPr lang="en-IN" dirty="0"/>
              <a:t>").alias("</a:t>
            </a:r>
            <a:r>
              <a:rPr lang="en-IN" dirty="0" err="1"/>
              <a:t>transaction_count</a:t>
            </a:r>
            <a:r>
              <a:rPr lang="en-IN" dirty="0"/>
              <a:t>") )</a:t>
            </a:r>
          </a:p>
          <a:p>
            <a:pPr marL="0" indent="0">
              <a:buNone/>
            </a:pPr>
            <a:r>
              <a:rPr lang="en-IN" dirty="0" err="1"/>
              <a:t>processed_df.show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/>
              <a:t># 5. Store: Save results to Parquet for efficient storage</a:t>
            </a:r>
          </a:p>
          <a:p>
            <a:pPr marL="0" indent="0">
              <a:buNone/>
            </a:pPr>
            <a:r>
              <a:rPr lang="en-US" dirty="0" err="1"/>
              <a:t>output_path</a:t>
            </a:r>
            <a:r>
              <a:rPr lang="en-US" dirty="0"/>
              <a:t> = "</a:t>
            </a:r>
            <a:r>
              <a:rPr lang="en-US" dirty="0" err="1"/>
              <a:t>processed_sales_data</a:t>
            </a:r>
            <a:r>
              <a:rPr lang="en-US" dirty="0"/>
              <a:t>" </a:t>
            </a:r>
          </a:p>
          <a:p>
            <a:pPr marL="0" indent="0">
              <a:buNone/>
            </a:pPr>
            <a:r>
              <a:rPr lang="en-US" dirty="0" err="1"/>
              <a:t>processed_df.write.mode</a:t>
            </a:r>
            <a:r>
              <a:rPr lang="en-US" dirty="0"/>
              <a:t>("overwrite").parquet(</a:t>
            </a:r>
            <a:r>
              <a:rPr lang="en-US" dirty="0" err="1"/>
              <a:t>output_path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345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9A398-0F40-BC03-B8C3-A7E8C32FB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References: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A35BA-0EAF-B7E6-E3BD-738C1AE1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linkClick r:id="rId3"/>
              </a:rPr>
              <a:t>https://sparkbyexamples.com/pyspark-tutorial/</a:t>
            </a:r>
            <a:endParaRPr lang="en-IN" dirty="0"/>
          </a:p>
          <a:p>
            <a:r>
              <a:rPr lang="en-IN" dirty="0">
                <a:hlinkClick r:id="rId4"/>
              </a:rPr>
              <a:t>https://blog.dataengineerthings.org/understanding-apache-spark-architecture-a-beginner-friendly-guide-for-data-engineers-28a14648ed2b</a:t>
            </a:r>
            <a:endParaRPr lang="en-IN" dirty="0"/>
          </a:p>
          <a:p>
            <a:r>
              <a:rPr lang="en-IN" dirty="0"/>
              <a:t>https://medium.com/@kiranvutukuri/rdds-vs-dataframes-vs-datasets-choosing-the-right-part-11-b12d6969885d</a:t>
            </a:r>
          </a:p>
        </p:txBody>
      </p:sp>
    </p:spTree>
    <p:extLst>
      <p:ext uri="{BB962C8B-B14F-4D97-AF65-F5344CB8AC3E}">
        <p14:creationId xmlns:p14="http://schemas.microsoft.com/office/powerpoint/2010/main" val="3577831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1504</Words>
  <Application>Microsoft Office PowerPoint</Application>
  <PresentationFormat>Widescreen</PresentationFormat>
  <Paragraphs>171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source-serif-pro</vt:lpstr>
      <vt:lpstr>Office Theme</vt:lpstr>
      <vt:lpstr>PySpark</vt:lpstr>
      <vt:lpstr>PySpark Fundamentals </vt:lpstr>
      <vt:lpstr>Spark Architecture</vt:lpstr>
      <vt:lpstr>RDD vs DataFrame vs Dataset</vt:lpstr>
      <vt:lpstr>RDD vs DataFrame vs Dataset</vt:lpstr>
      <vt:lpstr>RDD vs DataFrame vs Dataset</vt:lpstr>
      <vt:lpstr>RDD vs DataFrame vs Dataset</vt:lpstr>
      <vt:lpstr>SparkSession</vt:lpstr>
      <vt:lpstr>Data Processing with PySpark</vt:lpstr>
      <vt:lpstr>Data Processing with PySpark</vt:lpstr>
      <vt:lpstr>End-to-End ETL Pipeline</vt:lpstr>
      <vt:lpstr>DEMO</vt:lpstr>
      <vt:lpstr>References: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5</cp:revision>
  <dcterms:created xsi:type="dcterms:W3CDTF">2026-04-07T02:51:09Z</dcterms:created>
  <dcterms:modified xsi:type="dcterms:W3CDTF">2026-04-07T03:10:36Z</dcterms:modified>
</cp:coreProperties>
</file>